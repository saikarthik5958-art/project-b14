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7" r:id="rId8"/>
    <p:sldId id="261" r:id="rId9"/>
    <p:sldId id="268"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4660"/>
  </p:normalViewPr>
  <p:slideViewPr>
    <p:cSldViewPr snapToGrid="0">
      <p:cViewPr varScale="1">
        <p:scale>
          <a:sx n="75" d="100"/>
          <a:sy n="75" d="100"/>
        </p:scale>
        <p:origin x="80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15:37:18.284"/>
    </inkml:context>
    <inkml:brush xml:id="br0">
      <inkml:brushProperty name="width" value="0.035" units="cm"/>
      <inkml:brushProperty name="height" value="0.035" units="cm"/>
      <inkml:brushProperty name="color" value="#1D1D1D"/>
    </inkml:brush>
  </inkml:definitions>
  <inkml:trace contextRef="#ctx0" brushRef="#br0">0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41F89-5EAD-7DF9-7E4E-7C1C3314AC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B55B64-E816-5087-70F0-4759A98FD1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F59F58-CA6E-6E94-A3FA-0E46F0DFF015}"/>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5" name="Footer Placeholder 4">
            <a:extLst>
              <a:ext uri="{FF2B5EF4-FFF2-40B4-BE49-F238E27FC236}">
                <a16:creationId xmlns:a16="http://schemas.microsoft.com/office/drawing/2014/main" id="{E3FFAC73-9429-049A-ABB8-B7262E9C5B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06482E-32BA-FDF5-50FA-0E89E36C2B83}"/>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288540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AE78F-5212-B095-CE25-33110AD5E8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745B65-3868-CB3E-EC04-239964A829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00C899-BEDE-741C-A29C-7795CAC43CA6}"/>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5" name="Footer Placeholder 4">
            <a:extLst>
              <a:ext uri="{FF2B5EF4-FFF2-40B4-BE49-F238E27FC236}">
                <a16:creationId xmlns:a16="http://schemas.microsoft.com/office/drawing/2014/main" id="{72F517B7-34DD-D9B3-257A-F017B0736B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535897-0AE9-3C1B-97C7-E1A8CFC1F5A2}"/>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328783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8AEF-039E-0493-2E56-4059A88B6D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C16506-3A0A-CF3A-859D-C564781553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B71566-95FA-2007-991F-31CA350C74B2}"/>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5" name="Footer Placeholder 4">
            <a:extLst>
              <a:ext uri="{FF2B5EF4-FFF2-40B4-BE49-F238E27FC236}">
                <a16:creationId xmlns:a16="http://schemas.microsoft.com/office/drawing/2014/main" id="{DAE4E7E4-7684-3832-D713-96E191DF21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33AE5C-EADA-F344-9A5C-21A9B84D853B}"/>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1353358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848EF-7169-F682-39A9-C86EBDFB9B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88E762-E58A-FDA8-DB93-82FEA681CB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F9E0848-200C-EBD2-1228-59A80148E3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80A66E-AFF4-7522-2824-F6343D7A968A}"/>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6" name="Footer Placeholder 5">
            <a:extLst>
              <a:ext uri="{FF2B5EF4-FFF2-40B4-BE49-F238E27FC236}">
                <a16:creationId xmlns:a16="http://schemas.microsoft.com/office/drawing/2014/main" id="{7C389E61-B382-70AD-FF3A-E5D694F76E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552A3D-031C-02EE-E913-A5259F2307DF}"/>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599779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14613-D5D7-BE5C-4C7D-2B63D5B515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D0296F-82CA-EC5D-0DE0-C907851CE0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99D1F-1960-3FBB-6546-A0D6301057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76E68D4-C31D-D32A-F719-A45FAFB266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F5A1A4-25A8-F848-3500-BE5811839E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84ED61-7EBA-DEB3-9AFD-D1375ED1CAF8}"/>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8" name="Footer Placeholder 7">
            <a:extLst>
              <a:ext uri="{FF2B5EF4-FFF2-40B4-BE49-F238E27FC236}">
                <a16:creationId xmlns:a16="http://schemas.microsoft.com/office/drawing/2014/main" id="{37C89F38-4C02-75B3-3D5F-AF50E89695D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7134322-6724-2008-1ECE-77DA9C613ED1}"/>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769656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470E5-FC3D-4639-B214-AA966E8CA16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9A55CD-BE4B-3A3D-631E-513F70265266}"/>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4" name="Footer Placeholder 3">
            <a:extLst>
              <a:ext uri="{FF2B5EF4-FFF2-40B4-BE49-F238E27FC236}">
                <a16:creationId xmlns:a16="http://schemas.microsoft.com/office/drawing/2014/main" id="{101E6EEA-3525-BA50-DF96-739BE4BF793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A10B847-8B82-AA23-9E9D-59E4172F5AB7}"/>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1161595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22E79B-3843-9698-CCF5-286F66B00072}"/>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3" name="Footer Placeholder 2">
            <a:extLst>
              <a:ext uri="{FF2B5EF4-FFF2-40B4-BE49-F238E27FC236}">
                <a16:creationId xmlns:a16="http://schemas.microsoft.com/office/drawing/2014/main" id="{359074C1-0184-3B97-4ECD-B35CE5E291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A120B6-C6C2-9C8D-C8DE-8314B12FE1A4}"/>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80807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F38F8-3D1F-08C3-7EB4-23C279605A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681BED-EAD3-B5B9-041A-CE6C7BBF6C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4E81C0C-0544-2D6F-EE12-683AFF8AC4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383E63-6DBF-5777-3045-152ACB542B26}"/>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6" name="Footer Placeholder 5">
            <a:extLst>
              <a:ext uri="{FF2B5EF4-FFF2-40B4-BE49-F238E27FC236}">
                <a16:creationId xmlns:a16="http://schemas.microsoft.com/office/drawing/2014/main" id="{98F10457-7208-56A1-C791-BCCA37837E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9BC3AD-2A17-826E-42D2-A9A875E5AB8E}"/>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3330718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0600D-7A88-2D81-35AC-62BB9A4773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9160CF-04EC-3B2C-FD0A-CF1364C9E3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94A6D1-EFD4-7519-072C-4C690BB693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5369F5-4B79-6907-FC25-2A03DB3A9441}"/>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6" name="Footer Placeholder 5">
            <a:extLst>
              <a:ext uri="{FF2B5EF4-FFF2-40B4-BE49-F238E27FC236}">
                <a16:creationId xmlns:a16="http://schemas.microsoft.com/office/drawing/2014/main" id="{47F6AE61-B158-47E8-5ECF-0CEFDFBDF6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664278-1192-EBA6-4903-1FA681966A85}"/>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3726438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1183A-123D-4ABD-9CF6-E89B80B4F04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CB9907-3D4B-3BE1-A174-684B28757A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F1F386-48B0-582A-8635-015AF9299827}"/>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5" name="Footer Placeholder 4">
            <a:extLst>
              <a:ext uri="{FF2B5EF4-FFF2-40B4-BE49-F238E27FC236}">
                <a16:creationId xmlns:a16="http://schemas.microsoft.com/office/drawing/2014/main" id="{8FF5D8C9-581D-98FC-F910-06EA3771FA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9E4CE2-0E0F-9CDF-6B19-E37737A4DBA3}"/>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107471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00611D-189C-66AA-0492-A6A98E9DF6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5B33CD-38CC-D7B1-07A0-ABDDD51FD8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839F9A-44F0-4D77-274E-66B0504F28E0}"/>
              </a:ext>
            </a:extLst>
          </p:cNvPr>
          <p:cNvSpPr>
            <a:spLocks noGrp="1"/>
          </p:cNvSpPr>
          <p:nvPr>
            <p:ph type="dt" sz="half" idx="10"/>
          </p:nvPr>
        </p:nvSpPr>
        <p:spPr/>
        <p:txBody>
          <a:bodyPr/>
          <a:lstStyle/>
          <a:p>
            <a:fld id="{882467E8-9601-4726-8B91-BA684FE1BDDF}" type="datetimeFigureOut">
              <a:rPr lang="en-IN" smtClean="0"/>
              <a:t>04-02-2026</a:t>
            </a:fld>
            <a:endParaRPr lang="en-IN"/>
          </a:p>
        </p:txBody>
      </p:sp>
      <p:sp>
        <p:nvSpPr>
          <p:cNvPr id="5" name="Footer Placeholder 4">
            <a:extLst>
              <a:ext uri="{FF2B5EF4-FFF2-40B4-BE49-F238E27FC236}">
                <a16:creationId xmlns:a16="http://schemas.microsoft.com/office/drawing/2014/main" id="{413F4DE9-9A9D-5226-C32B-115AAB5FFA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3321E1-65C6-6C05-3571-9D575102C9C2}"/>
              </a:ext>
            </a:extLst>
          </p:cNvPr>
          <p:cNvSpPr>
            <a:spLocks noGrp="1"/>
          </p:cNvSpPr>
          <p:nvPr>
            <p:ph type="sldNum" sz="quarter" idx="12"/>
          </p:nvPr>
        </p:nvSpPr>
        <p:spPr/>
        <p:txBody>
          <a:bodyPr/>
          <a:lstStyle/>
          <a:p>
            <a:fld id="{74F52EB1-FC79-48ED-8198-C12E0958C335}" type="slidenum">
              <a:rPr lang="en-IN" smtClean="0"/>
              <a:t>‹#›</a:t>
            </a:fld>
            <a:endParaRPr lang="en-IN"/>
          </a:p>
        </p:txBody>
      </p:sp>
    </p:spTree>
    <p:extLst>
      <p:ext uri="{BB962C8B-B14F-4D97-AF65-F5344CB8AC3E}">
        <p14:creationId xmlns:p14="http://schemas.microsoft.com/office/powerpoint/2010/main" val="1100487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0FDC89-D9F7-745D-F285-95970F981E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6FCC20-36DB-D823-3551-D5DF307CAD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330FC0-15DB-DD43-FF2B-DBAB77C98E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2467E8-9601-4726-8B91-BA684FE1BDDF}" type="datetimeFigureOut">
              <a:rPr lang="en-IN" smtClean="0"/>
              <a:t>04-02-2026</a:t>
            </a:fld>
            <a:endParaRPr lang="en-IN"/>
          </a:p>
        </p:txBody>
      </p:sp>
      <p:sp>
        <p:nvSpPr>
          <p:cNvPr id="5" name="Footer Placeholder 4">
            <a:extLst>
              <a:ext uri="{FF2B5EF4-FFF2-40B4-BE49-F238E27FC236}">
                <a16:creationId xmlns:a16="http://schemas.microsoft.com/office/drawing/2014/main" id="{73B3CF99-C509-48FE-4EDC-8B290B2574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B911ECA-D6CE-17F2-2BF0-6DBEFD2008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F52EB1-FC79-48ED-8198-C12E0958C335}" type="slidenum">
              <a:rPr lang="en-IN" smtClean="0"/>
              <a:t>‹#›</a:t>
            </a:fld>
            <a:endParaRPr lang="en-IN"/>
          </a:p>
        </p:txBody>
      </p:sp>
    </p:spTree>
    <p:extLst>
      <p:ext uri="{BB962C8B-B14F-4D97-AF65-F5344CB8AC3E}">
        <p14:creationId xmlns:p14="http://schemas.microsoft.com/office/powerpoint/2010/main" val="1899787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91604D-2F43-D878-2D7A-B5E5FDAACB12}"/>
              </a:ext>
            </a:extLst>
          </p:cNvPr>
          <p:cNvSpPr txBox="1"/>
          <p:nvPr/>
        </p:nvSpPr>
        <p:spPr>
          <a:xfrm>
            <a:off x="1717040" y="690881"/>
            <a:ext cx="9865360" cy="1394356"/>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lnSpc>
                <a:spcPct val="150000"/>
              </a:lnSpc>
            </a:pPr>
            <a:r>
              <a:rPr lang="en-US" sz="3000" b="1" dirty="0">
                <a:ln>
                  <a:solidFill>
                    <a:schemeClr val="tx1"/>
                  </a:solidFill>
                </a:ln>
                <a:effectLst>
                  <a:outerShdw blurRad="50800" dist="38100" dir="5400000" algn="t" rotWithShape="0">
                    <a:prstClr val="black">
                      <a:alpha val="40000"/>
                    </a:prstClr>
                  </a:outerShdw>
                </a:effectLst>
                <a:latin typeface="Times New Roman" panose="02020603050405020304" pitchFamily="18" charset="0"/>
                <a:cs typeface="Times New Roman" panose="02020603050405020304" pitchFamily="18" charset="0"/>
              </a:rPr>
              <a:t>SIR CR REDDY COLLEGE OF ENGINEERING</a:t>
            </a:r>
          </a:p>
          <a:p>
            <a:pPr algn="ctr">
              <a:lnSpc>
                <a:spcPct val="150000"/>
              </a:lnSpc>
            </a:pPr>
            <a:r>
              <a:rPr lang="en-US" sz="3000" b="1" dirty="0">
                <a:ln>
                  <a:solidFill>
                    <a:schemeClr val="tx1"/>
                  </a:solidFill>
                </a:ln>
                <a:effectLst>
                  <a:outerShdw blurRad="50800" dist="38100" dir="5400000" algn="t" rotWithShape="0">
                    <a:prstClr val="black">
                      <a:alpha val="40000"/>
                    </a:prstClr>
                  </a:outerShdw>
                </a:effectLst>
                <a:latin typeface="Times New Roman" panose="02020603050405020304" pitchFamily="18" charset="0"/>
                <a:cs typeface="Times New Roman" panose="02020603050405020304" pitchFamily="18" charset="0"/>
              </a:rPr>
              <a:t>DEPARTMENT OF INFORMATION TECHNOLOGY</a:t>
            </a:r>
          </a:p>
        </p:txBody>
      </p:sp>
      <p:sp>
        <p:nvSpPr>
          <p:cNvPr id="5" name="TextBox 4">
            <a:extLst>
              <a:ext uri="{FF2B5EF4-FFF2-40B4-BE49-F238E27FC236}">
                <a16:creationId xmlns:a16="http://schemas.microsoft.com/office/drawing/2014/main" id="{085142CC-D143-627B-EFA0-ED0A46FBFD5D}"/>
              </a:ext>
            </a:extLst>
          </p:cNvPr>
          <p:cNvSpPr txBox="1"/>
          <p:nvPr/>
        </p:nvSpPr>
        <p:spPr>
          <a:xfrm>
            <a:off x="1076960" y="2509520"/>
            <a:ext cx="9743439" cy="1431161"/>
          </a:xfrm>
          <a:prstGeom prst="rect">
            <a:avLst/>
          </a:prstGeom>
          <a:noFill/>
        </p:spPr>
        <p:txBody>
          <a:bodyPr wrap="square" rtlCol="0">
            <a:spAutoFit/>
          </a:bodyPr>
          <a:lstStyle/>
          <a:p>
            <a:pPr algn="just">
              <a:spcAft>
                <a:spcPts val="600"/>
              </a:spcAft>
            </a:pPr>
            <a:r>
              <a:rPr lang="en-US" sz="2700" b="1" dirty="0">
                <a:ln>
                  <a:solidFill>
                    <a:schemeClr val="tx1"/>
                  </a:solidFill>
                </a:ln>
                <a:latin typeface="Times New Roman" panose="02020603050405020304" pitchFamily="18" charset="0"/>
                <a:cs typeface="Times New Roman" panose="02020603050405020304" pitchFamily="18" charset="0"/>
              </a:rPr>
              <a:t>PROJECT TITLE: </a:t>
            </a:r>
          </a:p>
          <a:p>
            <a:pPr algn="just"/>
            <a:r>
              <a:rPr lang="en-US" sz="2800" dirty="0">
                <a:ln>
                  <a:solidFill>
                    <a:schemeClr val="tx1"/>
                  </a:solidFill>
                </a:ln>
                <a:latin typeface="Times New Roman" panose="02020603050405020304" pitchFamily="18" charset="0"/>
                <a:cs typeface="Times New Roman" panose="02020603050405020304" pitchFamily="18" charset="0"/>
              </a:rPr>
              <a:t>	</a:t>
            </a:r>
            <a:r>
              <a:rPr lang="en-US" sz="2600" dirty="0">
                <a:ln>
                  <a:solidFill>
                    <a:schemeClr val="tx1"/>
                  </a:solidFill>
                </a:ln>
                <a:latin typeface="Times New Roman" panose="02020603050405020304" pitchFamily="18" charset="0"/>
                <a:cs typeface="Times New Roman" panose="02020603050405020304" pitchFamily="18" charset="0"/>
              </a:rPr>
              <a:t>Design of a Transfer Learning-Based Deep Learning Model for Domain-Adaptive Classification</a:t>
            </a:r>
            <a:endParaRPr lang="en-IN" sz="2600" dirty="0">
              <a:ln>
                <a:solidFill>
                  <a:schemeClr val="tx1"/>
                </a:solidFill>
              </a:ln>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A8FA295-E703-D30B-72A9-B035D16270DD}"/>
              </a:ext>
            </a:extLst>
          </p:cNvPr>
          <p:cNvSpPr txBox="1"/>
          <p:nvPr/>
        </p:nvSpPr>
        <p:spPr>
          <a:xfrm>
            <a:off x="955040" y="4826000"/>
            <a:ext cx="3829575" cy="830997"/>
          </a:xfrm>
          <a:prstGeom prst="rect">
            <a:avLst/>
          </a:prstGeom>
          <a:noFill/>
        </p:spPr>
        <p:txBody>
          <a:bodyPr wrap="none" rtlCol="0">
            <a:spAutoFit/>
          </a:bodyPr>
          <a:lstStyle/>
          <a:p>
            <a:pPr algn="just"/>
            <a:r>
              <a:rPr lang="en-IN" sz="2400" b="1" dirty="0">
                <a:ln>
                  <a:solidFill>
                    <a:schemeClr val="tx1"/>
                  </a:solidFill>
                </a:ln>
                <a:latin typeface="Times New Roman" panose="02020603050405020304" pitchFamily="18" charset="0"/>
                <a:cs typeface="Times New Roman" panose="02020603050405020304" pitchFamily="18" charset="0"/>
              </a:rPr>
              <a:t>Guided By:</a:t>
            </a:r>
          </a:p>
          <a:p>
            <a:pPr algn="just"/>
            <a:r>
              <a:rPr lang="en-IN" sz="2400" dirty="0">
                <a:ln>
                  <a:solidFill>
                    <a:schemeClr val="tx1"/>
                  </a:solidFill>
                </a:ln>
                <a:latin typeface="Times New Roman" panose="02020603050405020304" pitchFamily="18" charset="0"/>
                <a:cs typeface="Times New Roman" panose="02020603050405020304" pitchFamily="18" charset="0"/>
              </a:rPr>
              <a:t>Mr. G. Pavan,</a:t>
            </a:r>
            <a:r>
              <a:rPr lang="en-IN" sz="2400" dirty="0">
                <a:ln>
                  <a:solidFill>
                    <a:schemeClr val="tx1"/>
                  </a:solidFill>
                </a:ln>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Asst. Professor</a:t>
            </a:r>
          </a:p>
        </p:txBody>
      </p:sp>
      <p:sp>
        <p:nvSpPr>
          <p:cNvPr id="8" name="TextBox 7">
            <a:extLst>
              <a:ext uri="{FF2B5EF4-FFF2-40B4-BE49-F238E27FC236}">
                <a16:creationId xmlns:a16="http://schemas.microsoft.com/office/drawing/2014/main" id="{58B67C1F-7B63-4E1D-F6B4-4206E0637755}"/>
              </a:ext>
            </a:extLst>
          </p:cNvPr>
          <p:cNvSpPr txBox="1"/>
          <p:nvPr/>
        </p:nvSpPr>
        <p:spPr>
          <a:xfrm>
            <a:off x="6858000" y="4358640"/>
            <a:ext cx="4602480" cy="1508105"/>
          </a:xfrm>
          <a:prstGeom prst="rect">
            <a:avLst/>
          </a:prstGeom>
          <a:noFill/>
        </p:spPr>
        <p:txBody>
          <a:bodyPr wrap="square" rtlCol="0">
            <a:spAutoFit/>
          </a:bodyPr>
          <a:lstStyle/>
          <a:p>
            <a:pPr algn="just"/>
            <a:r>
              <a:rPr lang="en-IN" sz="2000" b="1" dirty="0">
                <a:ln>
                  <a:solidFill>
                    <a:schemeClr val="tx1"/>
                  </a:solidFill>
                </a:ln>
                <a:latin typeface="Times New Roman" panose="02020603050405020304" pitchFamily="18" charset="0"/>
                <a:cs typeface="Times New Roman" panose="02020603050405020304" pitchFamily="18" charset="0"/>
              </a:rPr>
              <a:t>Project Members:</a:t>
            </a:r>
          </a:p>
          <a:p>
            <a:pPr marL="457200" indent="-365125" algn="just">
              <a:buClr>
                <a:schemeClr val="tx1"/>
              </a:buClr>
              <a:buFont typeface="+mj-lt"/>
              <a:buAutoNum type="arabicPeriod"/>
            </a:pPr>
            <a:r>
              <a:rPr lang="en-IN" dirty="0">
                <a:ln>
                  <a:solidFill>
                    <a:schemeClr val="tx1"/>
                  </a:solidFill>
                </a:ln>
                <a:latin typeface="Times New Roman" panose="02020603050405020304" pitchFamily="18" charset="0"/>
                <a:cs typeface="Times New Roman" panose="02020603050405020304" pitchFamily="18" charset="0"/>
              </a:rPr>
              <a:t>T. Hemanth Kumar (22B81A12C1)</a:t>
            </a:r>
          </a:p>
          <a:p>
            <a:pPr marL="457200" indent="-365125" algn="just">
              <a:buClr>
                <a:schemeClr val="tx1"/>
              </a:buClr>
              <a:buFont typeface="+mj-lt"/>
              <a:buAutoNum type="arabicPeriod"/>
            </a:pPr>
            <a:r>
              <a:rPr lang="en-IN" dirty="0">
                <a:ln>
                  <a:solidFill>
                    <a:schemeClr val="tx1"/>
                  </a:solidFill>
                </a:ln>
                <a:latin typeface="Times New Roman" panose="02020603050405020304" pitchFamily="18" charset="0"/>
                <a:cs typeface="Times New Roman" panose="02020603050405020304" pitchFamily="18" charset="0"/>
              </a:rPr>
              <a:t>M. Sai Karthik (22B81A1284)</a:t>
            </a:r>
          </a:p>
          <a:p>
            <a:pPr marL="457200" indent="-365125" algn="just">
              <a:buClr>
                <a:schemeClr val="tx1"/>
              </a:buClr>
              <a:buFont typeface="+mj-lt"/>
              <a:buAutoNum type="arabicPeriod"/>
            </a:pPr>
            <a:r>
              <a:rPr lang="en-IN" dirty="0">
                <a:ln>
                  <a:solidFill>
                    <a:schemeClr val="tx1"/>
                  </a:solidFill>
                </a:ln>
                <a:latin typeface="Times New Roman" panose="02020603050405020304" pitchFamily="18" charset="0"/>
                <a:cs typeface="Times New Roman" panose="02020603050405020304" pitchFamily="18" charset="0"/>
              </a:rPr>
              <a:t>M. Manoj (22B81A1272)</a:t>
            </a:r>
          </a:p>
          <a:p>
            <a:pPr marL="457200" indent="-365125" algn="just">
              <a:buClr>
                <a:schemeClr val="tx1"/>
              </a:buClr>
              <a:buFont typeface="+mj-lt"/>
              <a:buAutoNum type="arabicPeriod"/>
            </a:pPr>
            <a:r>
              <a:rPr lang="en-IN" dirty="0">
                <a:ln>
                  <a:solidFill>
                    <a:schemeClr val="tx1"/>
                  </a:solidFill>
                </a:ln>
                <a:latin typeface="Times New Roman" panose="02020603050405020304" pitchFamily="18" charset="0"/>
                <a:cs typeface="Times New Roman" panose="02020603050405020304" pitchFamily="18" charset="0"/>
              </a:rPr>
              <a:t>L. Naga Sai (22B81A1271)</a:t>
            </a:r>
          </a:p>
        </p:txBody>
      </p:sp>
      <p:pic>
        <p:nvPicPr>
          <p:cNvPr id="9" name="Picture 8">
            <a:extLst>
              <a:ext uri="{FF2B5EF4-FFF2-40B4-BE49-F238E27FC236}">
                <a16:creationId xmlns:a16="http://schemas.microsoft.com/office/drawing/2014/main" id="{9A2EA9F1-4861-3C80-33DE-6A04C5DFCE16}"/>
              </a:ext>
            </a:extLst>
          </p:cNvPr>
          <p:cNvPicPr>
            <a:picLocks noChangeAspect="1"/>
          </p:cNvPicPr>
          <p:nvPr/>
        </p:nvPicPr>
        <p:blipFill>
          <a:blip r:embed="rId2"/>
          <a:stretch>
            <a:fillRect/>
          </a:stretch>
        </p:blipFill>
        <p:spPr>
          <a:xfrm>
            <a:off x="-831817" y="629920"/>
            <a:ext cx="3900138" cy="1521054"/>
          </a:xfrm>
          <a:prstGeom prst="rect">
            <a:avLst/>
          </a:prstGeom>
        </p:spPr>
      </p:pic>
      <p:sp>
        <p:nvSpPr>
          <p:cNvPr id="10" name="TextBox 9">
            <a:extLst>
              <a:ext uri="{FF2B5EF4-FFF2-40B4-BE49-F238E27FC236}">
                <a16:creationId xmlns:a16="http://schemas.microsoft.com/office/drawing/2014/main" id="{902DE559-413D-E390-11CF-66BC48140841}"/>
              </a:ext>
            </a:extLst>
          </p:cNvPr>
          <p:cNvSpPr txBox="1"/>
          <p:nvPr/>
        </p:nvSpPr>
        <p:spPr>
          <a:xfrm>
            <a:off x="934720" y="4257040"/>
            <a:ext cx="2641600" cy="461665"/>
          </a:xfrm>
          <a:prstGeom prst="rect">
            <a:avLst/>
          </a:prstGeom>
          <a:noFill/>
        </p:spPr>
        <p:txBody>
          <a:bodyPr wrap="square" rtlCol="0">
            <a:spAutoFit/>
          </a:bodyPr>
          <a:lstStyle/>
          <a:p>
            <a:pPr algn="just"/>
            <a:r>
              <a:rPr lang="en-IN" sz="2400" b="1" dirty="0">
                <a:ln>
                  <a:solidFill>
                    <a:schemeClr val="tx1"/>
                  </a:solidFill>
                </a:ln>
                <a:latin typeface="Times New Roman" panose="02020603050405020304" pitchFamily="18" charset="0"/>
                <a:cs typeface="Times New Roman" panose="02020603050405020304" pitchFamily="18" charset="0"/>
              </a:rPr>
              <a:t>Batch No.: </a:t>
            </a:r>
            <a:r>
              <a:rPr lang="en-IN" sz="2400" dirty="0">
                <a:ln>
                  <a:solidFill>
                    <a:schemeClr val="tx1"/>
                  </a:solidFill>
                </a:ln>
                <a:latin typeface="Times New Roman" panose="02020603050405020304" pitchFamily="18" charset="0"/>
                <a:cs typeface="Times New Roman" panose="02020603050405020304" pitchFamily="18" charset="0"/>
              </a:rPr>
              <a:t>B14</a:t>
            </a:r>
          </a:p>
        </p:txBody>
      </p:sp>
    </p:spTree>
    <p:extLst>
      <p:ext uri="{BB962C8B-B14F-4D97-AF65-F5344CB8AC3E}">
        <p14:creationId xmlns:p14="http://schemas.microsoft.com/office/powerpoint/2010/main" val="1833430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EC02B35-9BA8-8B0D-78C7-5BF3746D251B}"/>
              </a:ext>
            </a:extLst>
          </p:cNvPr>
          <p:cNvSpPr>
            <a:spLocks noGrp="1"/>
          </p:cNvSpPr>
          <p:nvPr>
            <p:ph type="title"/>
          </p:nvPr>
        </p:nvSpPr>
        <p:spPr>
          <a:xfrm>
            <a:off x="914399" y="851748"/>
            <a:ext cx="6766561" cy="706964"/>
          </a:xfrm>
        </p:spPr>
        <p:txBody>
          <a:bodyPr>
            <a:scene3d>
              <a:camera prst="orthographicFront"/>
              <a:lightRig rig="threePt" dir="t"/>
            </a:scene3d>
            <a:sp3d extrusionH="57150">
              <a:bevelT w="38100" h="38100" prst="angle"/>
            </a:sp3d>
          </a:bodyPr>
          <a:lstStyle/>
          <a:p>
            <a:pPr algn="just"/>
            <a:r>
              <a:rPr lang="en-IN" sz="4000" b="1" dirty="0">
                <a:ln>
                  <a:solidFill>
                    <a:schemeClr val="tx1"/>
                  </a:solidFill>
                </a:ln>
                <a:latin typeface="Times New Roman" panose="02020603050405020304" pitchFamily="18" charset="0"/>
                <a:cs typeface="Times New Roman" panose="02020603050405020304" pitchFamily="18" charset="0"/>
              </a:rPr>
              <a:t>Table of Contents</a:t>
            </a:r>
          </a:p>
        </p:txBody>
      </p:sp>
      <p:sp>
        <p:nvSpPr>
          <p:cNvPr id="5" name="TextBox 4">
            <a:extLst>
              <a:ext uri="{FF2B5EF4-FFF2-40B4-BE49-F238E27FC236}">
                <a16:creationId xmlns:a16="http://schemas.microsoft.com/office/drawing/2014/main" id="{554FEC48-0402-949E-AFAB-890394660053}"/>
              </a:ext>
            </a:extLst>
          </p:cNvPr>
          <p:cNvSpPr txBox="1"/>
          <p:nvPr/>
        </p:nvSpPr>
        <p:spPr>
          <a:xfrm>
            <a:off x="894080" y="2062480"/>
            <a:ext cx="5831840" cy="3539430"/>
          </a:xfrm>
          <a:prstGeom prst="rect">
            <a:avLst/>
          </a:prstGeom>
          <a:noFill/>
        </p:spPr>
        <p:txBody>
          <a:bodyPr wrap="square" rtlCol="0">
            <a:spAutoFit/>
          </a:bodyPr>
          <a:lstStyle/>
          <a:p>
            <a:pPr marL="720725" indent="-628650" algn="just">
              <a:buClr>
                <a:schemeClr val="tx1"/>
              </a:buClr>
              <a:buFont typeface="Wingdings" panose="05000000000000000000" pitchFamily="2" charset="2"/>
              <a:buChar char="Ø"/>
            </a:pPr>
            <a:r>
              <a:rPr lang="en-IN" sz="3200" b="1" dirty="0">
                <a:latin typeface="Times New Roman" panose="02020603050405020304" pitchFamily="18" charset="0"/>
                <a:cs typeface="Times New Roman" panose="02020603050405020304" pitchFamily="18" charset="0"/>
              </a:rPr>
              <a:t>Abstract</a:t>
            </a:r>
          </a:p>
          <a:p>
            <a:pPr marL="720725" indent="-628650" algn="just">
              <a:buClr>
                <a:schemeClr val="tx1"/>
              </a:buClr>
              <a:buFont typeface="Wingdings" panose="05000000000000000000" pitchFamily="2" charset="2"/>
              <a:buChar char="Ø"/>
            </a:pPr>
            <a:r>
              <a:rPr lang="en-IN" sz="3200" b="1" dirty="0">
                <a:latin typeface="Times New Roman" panose="02020603050405020304" pitchFamily="18" charset="0"/>
                <a:cs typeface="Times New Roman" panose="02020603050405020304" pitchFamily="18" charset="0"/>
              </a:rPr>
              <a:t>Literature Review</a:t>
            </a:r>
          </a:p>
          <a:p>
            <a:pPr marL="720725" indent="-628650" algn="just">
              <a:buClr>
                <a:schemeClr val="tx1"/>
              </a:buClr>
              <a:buFont typeface="Wingdings" panose="05000000000000000000" pitchFamily="2" charset="2"/>
              <a:buChar char="Ø"/>
            </a:pPr>
            <a:r>
              <a:rPr lang="en-IN" sz="3200" b="1" dirty="0">
                <a:latin typeface="Times New Roman" panose="02020603050405020304" pitchFamily="18" charset="0"/>
                <a:cs typeface="Times New Roman" panose="02020603050405020304" pitchFamily="18" charset="0"/>
              </a:rPr>
              <a:t>Problem Statement</a:t>
            </a:r>
          </a:p>
          <a:p>
            <a:pPr marL="720725" indent="-628650" algn="just">
              <a:buClr>
                <a:schemeClr val="tx1"/>
              </a:buClr>
              <a:buFont typeface="Wingdings" panose="05000000000000000000" pitchFamily="2" charset="2"/>
              <a:buChar char="Ø"/>
            </a:pPr>
            <a:r>
              <a:rPr lang="en-IN" sz="3200" b="1" dirty="0">
                <a:latin typeface="Times New Roman" panose="02020603050405020304" pitchFamily="18" charset="0"/>
                <a:cs typeface="Times New Roman" panose="02020603050405020304" pitchFamily="18" charset="0"/>
              </a:rPr>
              <a:t>Proposed Methodology</a:t>
            </a:r>
          </a:p>
          <a:p>
            <a:pPr marL="720725" indent="-628650" algn="just">
              <a:buClr>
                <a:schemeClr val="tx1"/>
              </a:buClr>
              <a:buFont typeface="Wingdings" panose="05000000000000000000" pitchFamily="2" charset="2"/>
              <a:buChar char="Ø"/>
            </a:pPr>
            <a:r>
              <a:rPr lang="en-IN" sz="3200" b="1" dirty="0">
                <a:latin typeface="Times New Roman" panose="02020603050405020304" pitchFamily="18" charset="0"/>
                <a:cs typeface="Times New Roman" panose="02020603050405020304" pitchFamily="18" charset="0"/>
              </a:rPr>
              <a:t>System Architecture</a:t>
            </a:r>
          </a:p>
          <a:p>
            <a:pPr marL="720725" indent="-628650" algn="just">
              <a:buClr>
                <a:schemeClr val="tx1"/>
              </a:buClr>
              <a:buFont typeface="Wingdings" panose="05000000000000000000" pitchFamily="2" charset="2"/>
              <a:buChar char="Ø"/>
            </a:pPr>
            <a:r>
              <a:rPr lang="en-IN" sz="3200" b="1" dirty="0">
                <a:latin typeface="Times New Roman" panose="02020603050405020304" pitchFamily="18" charset="0"/>
                <a:cs typeface="Times New Roman" panose="02020603050405020304" pitchFamily="18" charset="0"/>
              </a:rPr>
              <a:t>Advantages</a:t>
            </a:r>
          </a:p>
          <a:p>
            <a:pPr marL="720725" indent="-628650" algn="just">
              <a:buClr>
                <a:schemeClr val="tx1"/>
              </a:buClr>
              <a:buFont typeface="Wingdings" panose="05000000000000000000" pitchFamily="2" charset="2"/>
              <a:buChar char="Ø"/>
            </a:pPr>
            <a:r>
              <a:rPr lang="en-IN" sz="3200" b="1" dirty="0">
                <a:latin typeface="Times New Roman" panose="02020603050405020304" pitchFamily="18" charset="0"/>
                <a:cs typeface="Times New Roman" panose="02020603050405020304" pitchFamily="18" charset="0"/>
              </a:rPr>
              <a:t>Conclusion</a:t>
            </a:r>
            <a:endParaRPr lang="en-IN" sz="2000" b="1" dirty="0"/>
          </a:p>
        </p:txBody>
      </p:sp>
      <p:sp>
        <p:nvSpPr>
          <p:cNvPr id="2" name="Rectangle: Rounded Corners 1">
            <a:extLst>
              <a:ext uri="{FF2B5EF4-FFF2-40B4-BE49-F238E27FC236}">
                <a16:creationId xmlns:a16="http://schemas.microsoft.com/office/drawing/2014/main" id="{718F0B19-2F96-3135-9E80-4C0A4DFB50BA}"/>
              </a:ext>
            </a:extLst>
          </p:cNvPr>
          <p:cNvSpPr/>
          <p:nvPr/>
        </p:nvSpPr>
        <p:spPr>
          <a:xfrm>
            <a:off x="7366000" y="1991360"/>
            <a:ext cx="3576320" cy="2387600"/>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24517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18FADB5-8FCC-0BC8-6165-921E52DF7FC9}"/>
              </a:ext>
            </a:extLst>
          </p:cNvPr>
          <p:cNvSpPr>
            <a:spLocks noGrp="1"/>
          </p:cNvSpPr>
          <p:nvPr>
            <p:ph type="title"/>
          </p:nvPr>
        </p:nvSpPr>
        <p:spPr>
          <a:xfrm>
            <a:off x="609599" y="739988"/>
            <a:ext cx="7752081" cy="706964"/>
          </a:xfrm>
        </p:spPr>
        <p:txBody>
          <a:bodyPr>
            <a:scene3d>
              <a:camera prst="orthographicFront"/>
              <a:lightRig rig="threePt" dir="t"/>
            </a:scene3d>
            <a:sp3d extrusionH="57150">
              <a:bevelT w="38100" h="38100" prst="angle"/>
            </a:sp3d>
          </a:bodyPr>
          <a:lstStyle/>
          <a:p>
            <a:r>
              <a:rPr lang="en-IN" sz="4000" b="1" dirty="0">
                <a:ln>
                  <a:solidFill>
                    <a:schemeClr val="tx1"/>
                  </a:solidFill>
                </a:ln>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id="{3255E687-F131-F0C2-58B4-99725141D115}"/>
              </a:ext>
            </a:extLst>
          </p:cNvPr>
          <p:cNvSpPr txBox="1"/>
          <p:nvPr/>
        </p:nvSpPr>
        <p:spPr>
          <a:xfrm>
            <a:off x="458839" y="1902094"/>
            <a:ext cx="7069721" cy="3785652"/>
          </a:xfrm>
          <a:prstGeom prst="rect">
            <a:avLst/>
          </a:prstGeom>
          <a:noFill/>
        </p:spPr>
        <p:txBody>
          <a:bodyPr wrap="square" rtlCol="0">
            <a:spAutoFit/>
            <a:scene3d>
              <a:camera prst="orthographicFront"/>
              <a:lightRig rig="threePt" dir="t"/>
            </a:scene3d>
            <a:sp3d extrusionH="57150">
              <a:bevelT w="38100" h="38100"/>
            </a:sp3d>
          </a:bodyPr>
          <a:lstStyle/>
          <a:p>
            <a:pPr marL="538163" indent="-3556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project proposes a transfer learning–based deep learning model to improve classification performance across different domains. Pre-trained deep learning models are used to extract meaningful features and reduce the need for large labeled datasets. Domain adaptation techniques help minimize the differences between source and target data distributions. Experimental results show that the proposed model achieves better accuracy compared to traditional deep learning approaches.</a:t>
            </a:r>
            <a:endParaRPr lang="en-IN" sz="2400" dirty="0">
              <a:ln>
                <a:solidFill>
                  <a:srgbClr val="002060"/>
                </a:solidFill>
              </a:ln>
              <a:effectLst>
                <a:outerShdw blurRad="50800" dist="38100" dir="5400000" algn="t" rotWithShape="0">
                  <a:prstClr val="black">
                    <a:alpha val="40000"/>
                  </a:prstClr>
                </a:outerShdw>
              </a:effectLst>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AEB0F4F7-2101-0521-6CC5-1B7FFE19CE78}"/>
              </a:ext>
            </a:extLst>
          </p:cNvPr>
          <p:cNvSpPr/>
          <p:nvPr/>
        </p:nvSpPr>
        <p:spPr>
          <a:xfrm>
            <a:off x="7863840" y="2092960"/>
            <a:ext cx="3942080" cy="2418080"/>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60235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220C238-82E2-7A6C-50F9-F2E0E81AE1D7}"/>
              </a:ext>
            </a:extLst>
          </p:cNvPr>
          <p:cNvSpPr>
            <a:spLocks noGrp="1"/>
          </p:cNvSpPr>
          <p:nvPr>
            <p:ph type="title"/>
          </p:nvPr>
        </p:nvSpPr>
        <p:spPr>
          <a:xfrm>
            <a:off x="660399" y="587588"/>
            <a:ext cx="11104881" cy="706964"/>
          </a:xfrm>
        </p:spPr>
        <p:txBody>
          <a:bodyPr>
            <a:scene3d>
              <a:camera prst="orthographicFront"/>
              <a:lightRig rig="threePt" dir="t"/>
            </a:scene3d>
            <a:sp3d extrusionH="57150">
              <a:bevelT w="38100" h="38100" prst="angle"/>
            </a:sp3d>
          </a:bodyPr>
          <a:lstStyle/>
          <a:p>
            <a:r>
              <a:rPr lang="en-IN" sz="4000" b="1" dirty="0">
                <a:ln>
                  <a:solidFill>
                    <a:schemeClr val="tx1"/>
                  </a:solidFill>
                </a:ln>
                <a:latin typeface="Times New Roman" panose="02020603050405020304" pitchFamily="18" charset="0"/>
                <a:cs typeface="Times New Roman" panose="02020603050405020304" pitchFamily="18" charset="0"/>
              </a:rPr>
              <a:t>Literature Review</a:t>
            </a:r>
          </a:p>
        </p:txBody>
      </p:sp>
      <p:graphicFrame>
        <p:nvGraphicFramePr>
          <p:cNvPr id="5" name="Table 4">
            <a:extLst>
              <a:ext uri="{FF2B5EF4-FFF2-40B4-BE49-F238E27FC236}">
                <a16:creationId xmlns:a16="http://schemas.microsoft.com/office/drawing/2014/main" id="{9ADC21A8-4081-FAB4-ACD9-C97AD5FF66EC}"/>
              </a:ext>
            </a:extLst>
          </p:cNvPr>
          <p:cNvGraphicFramePr>
            <a:graphicFrameLocks noGrp="1"/>
          </p:cNvGraphicFramePr>
          <p:nvPr>
            <p:extLst>
              <p:ext uri="{D42A27DB-BD31-4B8C-83A1-F6EECF244321}">
                <p14:modId xmlns:p14="http://schemas.microsoft.com/office/powerpoint/2010/main" val="1720284480"/>
              </p:ext>
            </p:extLst>
          </p:nvPr>
        </p:nvGraphicFramePr>
        <p:xfrm>
          <a:off x="680720" y="1532053"/>
          <a:ext cx="11094225" cy="4767147"/>
        </p:xfrm>
        <a:graphic>
          <a:graphicData uri="http://schemas.openxmlformats.org/drawingml/2006/table">
            <a:tbl>
              <a:tblPr firstRow="1" bandRow="1">
                <a:tableStyleId>{5C22544A-7EE6-4342-B048-85BDC9FD1C3A}</a:tableStyleId>
              </a:tblPr>
              <a:tblGrid>
                <a:gridCol w="955040">
                  <a:extLst>
                    <a:ext uri="{9D8B030D-6E8A-4147-A177-3AD203B41FA5}">
                      <a16:colId xmlns:a16="http://schemas.microsoft.com/office/drawing/2014/main" val="1055585360"/>
                    </a:ext>
                  </a:extLst>
                </a:gridCol>
                <a:gridCol w="1778000">
                  <a:extLst>
                    <a:ext uri="{9D8B030D-6E8A-4147-A177-3AD203B41FA5}">
                      <a16:colId xmlns:a16="http://schemas.microsoft.com/office/drawing/2014/main" val="459804878"/>
                    </a:ext>
                  </a:extLst>
                </a:gridCol>
                <a:gridCol w="2113280">
                  <a:extLst>
                    <a:ext uri="{9D8B030D-6E8A-4147-A177-3AD203B41FA5}">
                      <a16:colId xmlns:a16="http://schemas.microsoft.com/office/drawing/2014/main" val="1690048537"/>
                    </a:ext>
                  </a:extLst>
                </a:gridCol>
                <a:gridCol w="1270000">
                  <a:extLst>
                    <a:ext uri="{9D8B030D-6E8A-4147-A177-3AD203B41FA5}">
                      <a16:colId xmlns:a16="http://schemas.microsoft.com/office/drawing/2014/main" val="1538756698"/>
                    </a:ext>
                  </a:extLst>
                </a:gridCol>
                <a:gridCol w="2346960">
                  <a:extLst>
                    <a:ext uri="{9D8B030D-6E8A-4147-A177-3AD203B41FA5}">
                      <a16:colId xmlns:a16="http://schemas.microsoft.com/office/drawing/2014/main" val="1809649643"/>
                    </a:ext>
                  </a:extLst>
                </a:gridCol>
                <a:gridCol w="2630945">
                  <a:extLst>
                    <a:ext uri="{9D8B030D-6E8A-4147-A177-3AD203B41FA5}">
                      <a16:colId xmlns:a16="http://schemas.microsoft.com/office/drawing/2014/main" val="781497364"/>
                    </a:ext>
                  </a:extLst>
                </a:gridCol>
              </a:tblGrid>
              <a:tr h="674649">
                <a:tc>
                  <a:txBody>
                    <a:bodyPr/>
                    <a:lstStyle/>
                    <a:p>
                      <a:pPr algn="ctr"/>
                      <a:r>
                        <a:rPr lang="en-IN"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Author(s)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Algorithm(s)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Accuracy (Approx.)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Advantage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Disadvantage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1577240"/>
                  </a:ext>
                </a:extLst>
              </a:tr>
              <a:tr h="654577">
                <a:tc>
                  <a:txBody>
                    <a:bodyPr/>
                    <a:lstStyle/>
                    <a:p>
                      <a:pPr algn="ctr"/>
                      <a:r>
                        <a:rPr lang="en-IN" dirty="0">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Pan &amp; Yang (2019)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Transfer Learning Framework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Times New Roman" panose="02020603050405020304" pitchFamily="18" charset="0"/>
                          <a:cs typeface="Times New Roman" panose="02020603050405020304" pitchFamily="18" charset="0"/>
                        </a:rPr>
                        <a:t>Established theoretical foundation for transfer learning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Times New Roman" panose="02020603050405020304" pitchFamily="18" charset="0"/>
                          <a:cs typeface="Times New Roman" panose="02020603050405020304" pitchFamily="18" charset="0"/>
                        </a:rPr>
                        <a:t>No deep learning or experimental results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026170"/>
                  </a:ext>
                </a:extLst>
              </a:tr>
              <a:tr h="674649">
                <a:tc>
                  <a:txBody>
                    <a:bodyPr/>
                    <a:lstStyle/>
                    <a:p>
                      <a:pPr algn="ctr"/>
                      <a:r>
                        <a:rPr lang="en-IN" dirty="0">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err="1">
                          <a:latin typeface="Times New Roman" panose="02020603050405020304" pitchFamily="18" charset="0"/>
                          <a:cs typeface="Times New Roman" panose="02020603050405020304" pitchFamily="18" charset="0"/>
                        </a:rPr>
                        <a:t>Yosinski</a:t>
                      </a:r>
                      <a:r>
                        <a:rPr lang="en-IN" dirty="0">
                          <a:latin typeface="Times New Roman" panose="02020603050405020304" pitchFamily="18" charset="0"/>
                          <a:cs typeface="Times New Roman" panose="02020603050405020304" pitchFamily="18" charset="0"/>
                        </a:rPr>
                        <a:t> et al. (2020)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CNN Feature Transfer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Demonstrated layer-wise feature transferability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Limited to CNN architectures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9042316"/>
                  </a:ext>
                </a:extLst>
              </a:tr>
              <a:tr h="674649">
                <a:tc>
                  <a:txBody>
                    <a:bodyPr/>
                    <a:lstStyle/>
                    <a:p>
                      <a:pPr algn="ctr"/>
                      <a:r>
                        <a:rPr lang="en-IN" dirty="0">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dirty="0">
                          <a:latin typeface="Times New Roman" panose="02020603050405020304" pitchFamily="18" charset="0"/>
                          <a:cs typeface="Times New Roman" panose="02020603050405020304" pitchFamily="18" charset="0"/>
                        </a:rPr>
                        <a:t>Long et al.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Deep Adaptation Network (MMD)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Effectively minimizes domain discrepancy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Sensitive to kernel selection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9770213"/>
                  </a:ext>
                </a:extLst>
              </a:tr>
              <a:tr h="674649">
                <a:tc>
                  <a:txBody>
                    <a:bodyPr/>
                    <a:lstStyle/>
                    <a:p>
                      <a:pPr algn="ctr"/>
                      <a:r>
                        <a:rPr lang="en-IN" dirty="0">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Ganin et al. (2023)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DANN (Domain-Adversarial NN)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Learns domain-invariant features automatically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Times New Roman" panose="02020603050405020304" pitchFamily="18" charset="0"/>
                          <a:cs typeface="Times New Roman" panose="02020603050405020304" pitchFamily="18" charset="0"/>
                        </a:rPr>
                        <a:t>Training instability due to adversarial loss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2370651"/>
                  </a:ext>
                </a:extLst>
              </a:tr>
              <a:tr h="674649">
                <a:tc>
                  <a:txBody>
                    <a:bodyPr/>
                    <a:lstStyle/>
                    <a:p>
                      <a:pPr algn="ctr"/>
                      <a:r>
                        <a:rPr lang="en-IN" dirty="0">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He et al. (2024)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err="1">
                          <a:latin typeface="Times New Roman" panose="02020603050405020304" pitchFamily="18" charset="0"/>
                          <a:cs typeface="Times New Roman" panose="02020603050405020304" pitchFamily="18" charset="0"/>
                        </a:rPr>
                        <a:t>ResNet</a:t>
                      </a:r>
                      <a:r>
                        <a:rPr lang="en-IN" dirty="0">
                          <a:latin typeface="Times New Roman" panose="02020603050405020304" pitchFamily="18" charset="0"/>
                          <a:cs typeface="Times New Roman" panose="02020603050405020304" pitchFamily="18" charset="0"/>
                        </a:rPr>
                        <a:t> + Transfer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Times New Roman" panose="02020603050405020304" pitchFamily="18" charset="0"/>
                          <a:cs typeface="Times New Roman" panose="02020603050405020304" pitchFamily="18" charset="0"/>
                        </a:rPr>
                        <a:t>Deep residual learning improves accuracy</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dirty="0">
                          <a:latin typeface="Times New Roman" panose="02020603050405020304" pitchFamily="18" charset="0"/>
                          <a:cs typeface="Times New Roman" panose="02020603050405020304" pitchFamily="18" charset="0"/>
                        </a:rPr>
                        <a:t>High computational complexity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8852618"/>
                  </a:ext>
                </a:extLst>
              </a:tr>
            </a:tbl>
          </a:graphicData>
        </a:graphic>
      </p:graphicFrame>
    </p:spTree>
    <p:extLst>
      <p:ext uri="{BB962C8B-B14F-4D97-AF65-F5344CB8AC3E}">
        <p14:creationId xmlns:p14="http://schemas.microsoft.com/office/powerpoint/2010/main" val="2284569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EE82B-D4C2-4B04-C118-0DF9A3FB7EE7}"/>
              </a:ext>
            </a:extLst>
          </p:cNvPr>
          <p:cNvSpPr>
            <a:spLocks noGrp="1"/>
          </p:cNvSpPr>
          <p:nvPr>
            <p:ph type="title"/>
          </p:nvPr>
        </p:nvSpPr>
        <p:spPr>
          <a:xfrm>
            <a:off x="650239" y="821268"/>
            <a:ext cx="7752081" cy="706964"/>
          </a:xfrm>
        </p:spPr>
        <p:txBody>
          <a:bodyPr>
            <a:scene3d>
              <a:camera prst="orthographicFront"/>
              <a:lightRig rig="threePt" dir="t"/>
            </a:scene3d>
            <a:sp3d extrusionH="57150">
              <a:bevelT w="38100" h="38100" prst="angle"/>
            </a:sp3d>
          </a:bodyPr>
          <a:lstStyle/>
          <a:p>
            <a:r>
              <a:rPr lang="en-IN" sz="4000" b="1" dirty="0">
                <a:ln>
                  <a:solidFill>
                    <a:schemeClr val="tx1"/>
                  </a:solidFill>
                </a:ln>
                <a:latin typeface="Times New Roman" panose="02020603050405020304" pitchFamily="18" charset="0"/>
                <a:cs typeface="Times New Roman" panose="02020603050405020304" pitchFamily="18" charset="0"/>
              </a:rPr>
              <a:t>Problem Statement</a:t>
            </a:r>
          </a:p>
        </p:txBody>
      </p:sp>
      <p:sp>
        <p:nvSpPr>
          <p:cNvPr id="5" name="Rectangle: Rounded Corners 4">
            <a:extLst>
              <a:ext uri="{FF2B5EF4-FFF2-40B4-BE49-F238E27FC236}">
                <a16:creationId xmlns:a16="http://schemas.microsoft.com/office/drawing/2014/main" id="{9E387BBB-E163-9CE5-D58E-0460C91B0AF6}"/>
              </a:ext>
            </a:extLst>
          </p:cNvPr>
          <p:cNvSpPr/>
          <p:nvPr/>
        </p:nvSpPr>
        <p:spPr>
          <a:xfrm>
            <a:off x="7894320" y="2235200"/>
            <a:ext cx="3576320" cy="2387600"/>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7E75003-F749-9AFA-78DB-E6A7EFD78970}"/>
              </a:ext>
            </a:extLst>
          </p:cNvPr>
          <p:cNvSpPr txBox="1"/>
          <p:nvPr/>
        </p:nvSpPr>
        <p:spPr>
          <a:xfrm>
            <a:off x="487680" y="2397760"/>
            <a:ext cx="6969760" cy="2677656"/>
          </a:xfrm>
          <a:prstGeom prst="rect">
            <a:avLst/>
          </a:prstGeom>
          <a:noFill/>
        </p:spPr>
        <p:txBody>
          <a:bodyPr wrap="square" rtlCol="0">
            <a:spAutoFit/>
            <a:scene3d>
              <a:camera prst="orthographicFront"/>
              <a:lightRig rig="threePt" dir="t"/>
            </a:scene3d>
            <a:sp3d extrusionH="57150">
              <a:bevelT w="38100" h="38100"/>
            </a:sp3d>
          </a:bodyPr>
          <a:lstStyle/>
          <a:p>
            <a:pPr marL="182563" algn="just"/>
            <a:r>
              <a:rPr lang="en-US" sz="2400" dirty="0">
                <a:latin typeface="Times New Roman" panose="02020603050405020304" pitchFamily="18" charset="0"/>
                <a:cs typeface="Times New Roman" panose="02020603050405020304" pitchFamily="18" charset="0"/>
              </a:rPr>
              <a:t>	Traditional Deep Learning models fail when test data is different from training data. There is a need for a model that can adapt knowledge from one domain to another. We have to make the Deep Learning model perform Domain Adaptive Classification of a new training data using Transfer Learning.</a:t>
            </a:r>
            <a:endParaRPr lang="en-IN" sz="2400" dirty="0">
              <a:ln>
                <a:solidFill>
                  <a:srgbClr val="002060"/>
                </a:solidFill>
              </a:ln>
              <a:effectLst>
                <a:outerShdw blurRad="50800" dist="38100" dir="5400000" algn="t" rotWithShape="0">
                  <a:prstClr val="black">
                    <a:alpha val="40000"/>
                  </a:prst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411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1E42124-83CE-745A-BD8C-5B531A4A3AD6}"/>
              </a:ext>
            </a:extLst>
          </p:cNvPr>
          <p:cNvSpPr>
            <a:spLocks noGrp="1"/>
          </p:cNvSpPr>
          <p:nvPr>
            <p:ph type="title"/>
          </p:nvPr>
        </p:nvSpPr>
        <p:spPr>
          <a:xfrm>
            <a:off x="650239" y="821268"/>
            <a:ext cx="7796805" cy="706964"/>
          </a:xfrm>
        </p:spPr>
        <p:txBody>
          <a:bodyPr>
            <a:scene3d>
              <a:camera prst="orthographicFront"/>
              <a:lightRig rig="threePt" dir="t"/>
            </a:scene3d>
            <a:sp3d extrusionH="57150">
              <a:bevelT w="38100" h="38100" prst="angle"/>
            </a:sp3d>
          </a:bodyPr>
          <a:lstStyle/>
          <a:p>
            <a:pPr algn="just"/>
            <a:r>
              <a:rPr lang="en-IN" sz="4000" b="1" dirty="0">
                <a:ln>
                  <a:solidFill>
                    <a:schemeClr val="tx1"/>
                  </a:solidFill>
                </a:ln>
                <a:latin typeface="Times New Roman" panose="02020603050405020304" pitchFamily="18" charset="0"/>
                <a:cs typeface="Times New Roman" panose="02020603050405020304" pitchFamily="18" charset="0"/>
              </a:rPr>
              <a:t>Proposed Methodology</a:t>
            </a:r>
          </a:p>
        </p:txBody>
      </p:sp>
      <p:sp>
        <p:nvSpPr>
          <p:cNvPr id="5" name="Content Placeholder 2">
            <a:extLst>
              <a:ext uri="{FF2B5EF4-FFF2-40B4-BE49-F238E27FC236}">
                <a16:creationId xmlns:a16="http://schemas.microsoft.com/office/drawing/2014/main" id="{E7A044FD-1C54-98B3-5991-476EBFA5FD31}"/>
              </a:ext>
            </a:extLst>
          </p:cNvPr>
          <p:cNvSpPr txBox="1">
            <a:spLocks noChangeArrowheads="1"/>
          </p:cNvSpPr>
          <p:nvPr/>
        </p:nvSpPr>
        <p:spPr bwMode="auto">
          <a:xfrm>
            <a:off x="751841" y="1418090"/>
            <a:ext cx="10566399" cy="324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355600" indent="-355600" algn="just" defTabSz="914400" eaLnBrk="0" fontAlgn="base" hangingPunct="0">
              <a:lnSpc>
                <a:spcPct val="150000"/>
              </a:lnSpc>
              <a:spcBef>
                <a:spcPts val="0"/>
              </a:spcBef>
              <a:spcAft>
                <a:spcPts val="600"/>
              </a:spcAft>
              <a:buClrTx/>
              <a:buSzTx/>
              <a:buFont typeface="+mj-lt"/>
              <a:buAutoNum type="arabicPeriod"/>
            </a:pPr>
            <a:r>
              <a:rPr lang="en-IN" altLang="en-US" sz="2400" b="1" dirty="0">
                <a:solidFill>
                  <a:schemeClr val="tx1"/>
                </a:solidFill>
                <a:latin typeface="Times New Roman" panose="02020603050405020304" pitchFamily="18" charset="0"/>
                <a:cs typeface="Times New Roman" panose="02020603050405020304" pitchFamily="18" charset="0"/>
              </a:rPr>
              <a:t>Adversarial Training Method:</a:t>
            </a:r>
            <a:endParaRPr lang="en-IN" altLang="en-US" sz="2400" dirty="0">
              <a:solidFill>
                <a:schemeClr val="tx1"/>
              </a:solidFill>
              <a:latin typeface="Times New Roman" panose="02020603050405020304" pitchFamily="18" charset="0"/>
              <a:cs typeface="Times New Roman" panose="02020603050405020304" pitchFamily="18" charset="0"/>
            </a:endParaRPr>
          </a:p>
          <a:p>
            <a:pPr marL="0" indent="0" algn="just" defTabSz="914400" eaLnBrk="0" fontAlgn="base" hangingPunct="0">
              <a:spcBef>
                <a:spcPts val="0"/>
              </a:spcBef>
              <a:buClrTx/>
              <a:buSzTx/>
              <a:buNone/>
            </a:pPr>
            <a:r>
              <a:rPr lang="en-IN" altLang="en-US" sz="2200" dirty="0">
                <a:solidFill>
                  <a:schemeClr val="tx1"/>
                </a:solidFill>
                <a:latin typeface="Times New Roman" panose="02020603050405020304" pitchFamily="18" charset="0"/>
                <a:cs typeface="Times New Roman" panose="02020603050405020304" pitchFamily="18" charset="0"/>
              </a:rPr>
              <a:t>      • The Adversarial Training Method consists of two processes:</a:t>
            </a:r>
          </a:p>
          <a:p>
            <a:pPr marL="0" indent="0" algn="just" defTabSz="914400" eaLnBrk="0" fontAlgn="base" hangingPunct="0">
              <a:spcBef>
                <a:spcPts val="0"/>
              </a:spcBef>
              <a:buClrTx/>
              <a:buSzTx/>
              <a:buNone/>
            </a:pPr>
            <a:r>
              <a:rPr lang="en-IN" altLang="en-US" sz="2200" dirty="0">
                <a:solidFill>
                  <a:schemeClr val="tx1"/>
                </a:solidFill>
                <a:latin typeface="Times New Roman" panose="02020603050405020304" pitchFamily="18" charset="0"/>
                <a:cs typeface="Times New Roman" panose="02020603050405020304" pitchFamily="18" charset="0"/>
              </a:rPr>
              <a:t>	</a:t>
            </a:r>
            <a:r>
              <a:rPr lang="en-IN" altLang="en-US" sz="2200" b="1" dirty="0">
                <a:solidFill>
                  <a:schemeClr val="tx1"/>
                </a:solidFill>
                <a:latin typeface="Times New Roman" panose="02020603050405020304" pitchFamily="18" charset="0"/>
                <a:cs typeface="Times New Roman" panose="02020603050405020304" pitchFamily="18" charset="0"/>
              </a:rPr>
              <a:t>1. Feature Extraction: </a:t>
            </a:r>
            <a:r>
              <a:rPr lang="en-US" altLang="en-US" sz="2200" dirty="0">
                <a:solidFill>
                  <a:schemeClr val="tx1"/>
                </a:solidFill>
                <a:latin typeface="Times New Roman" panose="02020603050405020304" pitchFamily="18" charset="0"/>
                <a:cs typeface="Times New Roman" panose="02020603050405020304" pitchFamily="18" charset="0"/>
              </a:rPr>
              <a:t>Takes input data and converts it into features regardless of whether the feature comes from the source or target domain.</a:t>
            </a:r>
          </a:p>
          <a:p>
            <a:pPr marL="0" indent="0" algn="just" defTabSz="914400" eaLnBrk="0" fontAlgn="base" hangingPunct="0">
              <a:spcBef>
                <a:spcPts val="0"/>
              </a:spcBef>
              <a:spcAft>
                <a:spcPts val="600"/>
              </a:spcAft>
              <a:buClrTx/>
              <a:buSzTx/>
              <a:buNone/>
            </a:pPr>
            <a:r>
              <a:rPr lang="en-US" altLang="en-US" sz="2200" dirty="0">
                <a:solidFill>
                  <a:schemeClr val="tx1"/>
                </a:solidFill>
                <a:latin typeface="Times New Roman" panose="02020603050405020304" pitchFamily="18" charset="0"/>
                <a:cs typeface="Times New Roman" panose="02020603050405020304" pitchFamily="18" charset="0"/>
              </a:rPr>
              <a:t>	</a:t>
            </a:r>
            <a:r>
              <a:rPr lang="en-IN" altLang="en-US" sz="2200" b="1" dirty="0">
                <a:solidFill>
                  <a:schemeClr val="tx1"/>
                </a:solidFill>
                <a:latin typeface="Times New Roman" panose="02020603050405020304" pitchFamily="18" charset="0"/>
                <a:cs typeface="Times New Roman" panose="02020603050405020304" pitchFamily="18" charset="0"/>
              </a:rPr>
              <a:t>2. Domain Discriminator: </a:t>
            </a:r>
            <a:r>
              <a:rPr lang="en-US" altLang="en-US" sz="2200" dirty="0">
                <a:solidFill>
                  <a:schemeClr val="tx1"/>
                </a:solidFill>
                <a:latin typeface="Times New Roman" panose="02020603050405020304" pitchFamily="18" charset="0"/>
                <a:cs typeface="Times New Roman" panose="02020603050405020304" pitchFamily="18" charset="0"/>
              </a:rPr>
              <a:t>This discriminator tries to identify if a feature comes from the source or target domain.</a:t>
            </a:r>
          </a:p>
          <a:p>
            <a:pPr marL="0" indent="0" algn="just" defTabSz="914400" eaLnBrk="0" fontAlgn="base" hangingPunct="0">
              <a:spcBef>
                <a:spcPts val="0"/>
              </a:spcBef>
              <a:buClrTx/>
              <a:buSzTx/>
              <a:buNone/>
            </a:pPr>
            <a:r>
              <a:rPr lang="en-US" altLang="en-US" sz="2200" dirty="0">
                <a:solidFill>
                  <a:schemeClr val="tx1"/>
                </a:solidFill>
                <a:latin typeface="Times New Roman" panose="02020603050405020304" pitchFamily="18" charset="0"/>
                <a:cs typeface="Times New Roman" panose="02020603050405020304" pitchFamily="18" charset="0"/>
              </a:rPr>
              <a:t>      </a:t>
            </a:r>
            <a:r>
              <a:rPr lang="en-IN" altLang="en-US" sz="2200" dirty="0">
                <a:solidFill>
                  <a:schemeClr val="tx1"/>
                </a:solidFill>
                <a:latin typeface="Times New Roman" panose="02020603050405020304" pitchFamily="18" charset="0"/>
                <a:cs typeface="Times New Roman" panose="02020603050405020304" pitchFamily="18" charset="0"/>
              </a:rPr>
              <a:t>• This way this method forces the deep learning model to learn of domain-invariant representations of data.</a:t>
            </a:r>
            <a:endParaRPr lang="en-US" altLang="en-US" sz="220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507FC5F1-A6AB-D3E5-FAF9-A4941B418AA5}"/>
              </a:ext>
            </a:extLst>
          </p:cNvPr>
          <p:cNvSpPr txBox="1">
            <a:spLocks noChangeArrowheads="1"/>
          </p:cNvSpPr>
          <p:nvPr/>
        </p:nvSpPr>
        <p:spPr bwMode="auto">
          <a:xfrm>
            <a:off x="822961" y="4702875"/>
            <a:ext cx="10494517" cy="155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457200" indent="-457200" algn="just" defTabSz="914400" eaLnBrk="0" fontAlgn="base" hangingPunct="0">
              <a:spcBef>
                <a:spcPts val="0"/>
              </a:spcBef>
              <a:spcAft>
                <a:spcPts val="600"/>
              </a:spcAft>
              <a:buClrTx/>
              <a:buSzTx/>
              <a:buFont typeface="+mj-lt"/>
              <a:buAutoNum type="arabicPeriod" startAt="2"/>
            </a:pPr>
            <a:r>
              <a:rPr lang="en-IN" altLang="en-US" sz="2400" b="1" dirty="0">
                <a:solidFill>
                  <a:schemeClr val="tx1"/>
                </a:solidFill>
                <a:latin typeface="Times New Roman" panose="02020603050405020304" pitchFamily="18" charset="0"/>
                <a:cs typeface="Times New Roman" panose="02020603050405020304" pitchFamily="18" charset="0"/>
              </a:rPr>
              <a:t>Discrepancy-Based Loss:</a:t>
            </a:r>
            <a:endParaRPr lang="en-US" altLang="en-US" sz="2400" b="1" dirty="0">
              <a:solidFill>
                <a:schemeClr val="tx1"/>
              </a:solidFill>
              <a:latin typeface="Times New Roman" panose="02020603050405020304" pitchFamily="18" charset="0"/>
              <a:cs typeface="Times New Roman" panose="02020603050405020304" pitchFamily="18" charset="0"/>
            </a:endParaRPr>
          </a:p>
          <a:p>
            <a:pPr marL="0" indent="0" algn="just" defTabSz="630238" eaLnBrk="0" fontAlgn="base" hangingPunct="0">
              <a:spcBef>
                <a:spcPts val="0"/>
              </a:spcBef>
              <a:buClrTx/>
              <a:buSzTx/>
              <a:buNone/>
              <a:tabLst>
                <a:tab pos="893763" algn="l"/>
              </a:tabLst>
            </a:pPr>
            <a:r>
              <a:rPr lang="en-IN" altLang="en-US" sz="2200" b="1" dirty="0">
                <a:solidFill>
                  <a:schemeClr val="tx1"/>
                </a:solidFill>
                <a:latin typeface="Times New Roman" panose="02020603050405020304" pitchFamily="18" charset="0"/>
                <a:cs typeface="Times New Roman" panose="02020603050405020304" pitchFamily="18" charset="0"/>
              </a:rPr>
              <a:t>        </a:t>
            </a:r>
            <a:r>
              <a:rPr lang="en-US" sz="2200" dirty="0">
                <a:solidFill>
                  <a:schemeClr val="tx1"/>
                </a:solidFill>
                <a:latin typeface="Times New Roman" panose="02020603050405020304" pitchFamily="18" charset="0"/>
                <a:cs typeface="Times New Roman" panose="02020603050405020304" pitchFamily="18" charset="0"/>
              </a:rPr>
              <a:t>The model incorporates Maximum Mean Discrepancy (MMD) loss. This quantitatively measures the statistical distance between the feature distributions of the two domains and minimizes it during training to bridge the distributional gap.</a:t>
            </a:r>
          </a:p>
        </p:txBody>
      </p:sp>
    </p:spTree>
    <p:extLst>
      <p:ext uri="{BB962C8B-B14F-4D97-AF65-F5344CB8AC3E}">
        <p14:creationId xmlns:p14="http://schemas.microsoft.com/office/powerpoint/2010/main" val="2159835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6A2225-42A3-BD4B-6D94-A7F7C93D586A}"/>
              </a:ext>
            </a:extLst>
          </p:cNvPr>
          <p:cNvSpPr txBox="1"/>
          <p:nvPr/>
        </p:nvSpPr>
        <p:spPr>
          <a:xfrm>
            <a:off x="731520" y="1005840"/>
            <a:ext cx="10800080" cy="1477328"/>
          </a:xfrm>
          <a:prstGeom prst="rect">
            <a:avLst/>
          </a:prstGeom>
          <a:noFill/>
        </p:spPr>
        <p:txBody>
          <a:bodyPr wrap="square" rtlCol="0">
            <a:spAutoFit/>
          </a:bodyPr>
          <a:lstStyle/>
          <a:p>
            <a:pPr marL="342900" indent="-342900">
              <a:buFont typeface="+mj-lt"/>
              <a:buAutoNum type="arabicPeriod" startAt="3"/>
            </a:pPr>
            <a:r>
              <a:rPr lang="en-US" sz="2400" b="1" dirty="0">
                <a:latin typeface="Times New Roman" panose="02020603050405020304" pitchFamily="18" charset="0"/>
                <a:cs typeface="Times New Roman" panose="02020603050405020304" pitchFamily="18" charset="0"/>
              </a:rPr>
              <a:t>Hybrid Loss Function: </a:t>
            </a:r>
          </a:p>
          <a:p>
            <a:pPr lvl="1"/>
            <a:r>
              <a:rPr lang="en-US" sz="2200" dirty="0">
                <a:latin typeface="Times New Roman" panose="02020603050405020304" pitchFamily="18" charset="0"/>
                <a:cs typeface="Times New Roman" panose="02020603050405020304" pitchFamily="18" charset="0"/>
              </a:rPr>
              <a:t>A unique combined loss function is proposed that balances two elements:</a:t>
            </a:r>
          </a:p>
          <a:p>
            <a:pPr marL="1168400" indent="-274638" defTabSz="508000">
              <a:buSzPct val="125000"/>
              <a:buFont typeface="Arial" panose="020B0604020202020204" pitchFamily="34" charset="0"/>
              <a:buChar char="•"/>
              <a:tabLst>
                <a:tab pos="538163" algn="l"/>
                <a:tab pos="630238" algn="l"/>
                <a:tab pos="1706563" algn="l"/>
                <a:tab pos="1971675" algn="l"/>
              </a:tabLst>
            </a:pPr>
            <a:r>
              <a:rPr lang="en-US" sz="2200" b="1" dirty="0">
                <a:latin typeface="Times New Roman" panose="02020603050405020304" pitchFamily="18" charset="0"/>
                <a:cs typeface="Times New Roman" panose="02020603050405020304" pitchFamily="18" charset="0"/>
              </a:rPr>
              <a:t>Cross-Entropy Loss </a:t>
            </a:r>
            <a:r>
              <a:rPr lang="en-US" sz="2200" dirty="0">
                <a:latin typeface="Times New Roman" panose="02020603050405020304" pitchFamily="18" charset="0"/>
                <a:cs typeface="Times New Roman" panose="02020603050405020304" pitchFamily="18" charset="0"/>
              </a:rPr>
              <a:t>for classification accuracy on the labeled source data.</a:t>
            </a:r>
          </a:p>
          <a:p>
            <a:pPr marL="1168400" indent="-274638" defTabSz="508000">
              <a:buSzPct val="125000"/>
              <a:buFont typeface="Arial" panose="020B0604020202020204" pitchFamily="34" charset="0"/>
              <a:buChar char="•"/>
              <a:tabLst>
                <a:tab pos="538163" algn="l"/>
                <a:tab pos="630238" algn="l"/>
                <a:tab pos="1706563" algn="l"/>
                <a:tab pos="1971675" algn="l"/>
              </a:tabLst>
            </a:pPr>
            <a:r>
              <a:rPr lang="en-US" sz="2200" b="1" dirty="0">
                <a:latin typeface="Times New Roman" panose="02020603050405020304" pitchFamily="18" charset="0"/>
                <a:cs typeface="Times New Roman" panose="02020603050405020304" pitchFamily="18" charset="0"/>
              </a:rPr>
              <a:t>Domain Discrepancy Loss</a:t>
            </a:r>
            <a:r>
              <a:rPr lang="en-US" sz="2200" dirty="0">
                <a:latin typeface="Times New Roman" panose="02020603050405020304" pitchFamily="18" charset="0"/>
                <a:cs typeface="Times New Roman" panose="02020603050405020304" pitchFamily="18" charset="0"/>
              </a:rPr>
              <a:t> for alignment between domains.</a:t>
            </a:r>
          </a:p>
        </p:txBody>
      </p:sp>
      <p:sp>
        <p:nvSpPr>
          <p:cNvPr id="8" name="TextBox 7">
            <a:extLst>
              <a:ext uri="{FF2B5EF4-FFF2-40B4-BE49-F238E27FC236}">
                <a16:creationId xmlns:a16="http://schemas.microsoft.com/office/drawing/2014/main" id="{8BFE4144-F278-51A6-67CF-7A7D8E86665E}"/>
              </a:ext>
            </a:extLst>
          </p:cNvPr>
          <p:cNvSpPr txBox="1"/>
          <p:nvPr/>
        </p:nvSpPr>
        <p:spPr>
          <a:xfrm>
            <a:off x="741680" y="3302000"/>
            <a:ext cx="10607040" cy="1754326"/>
          </a:xfrm>
          <a:prstGeom prst="rect">
            <a:avLst/>
          </a:prstGeom>
          <a:noFill/>
        </p:spPr>
        <p:txBody>
          <a:bodyPr wrap="square" rtlCol="0">
            <a:spAutoFit/>
          </a:bodyPr>
          <a:lstStyle/>
          <a:p>
            <a:pPr marL="457200" indent="-457200">
              <a:buFont typeface="+mj-lt"/>
              <a:buAutoNum type="arabicPeriod" startAt="4"/>
            </a:pPr>
            <a:r>
              <a:rPr lang="en-US" sz="2400" b="1" dirty="0">
                <a:latin typeface="Times New Roman" panose="02020603050405020304" pitchFamily="18" charset="0"/>
                <a:cs typeface="Times New Roman" panose="02020603050405020304" pitchFamily="18" charset="0"/>
              </a:rPr>
              <a:t>Layer-Specific Fine-Tuning: </a:t>
            </a:r>
          </a:p>
          <a:p>
            <a:pPr lvl="1"/>
            <a:r>
              <a:rPr lang="en-US" sz="2200" dirty="0">
                <a:latin typeface="Times New Roman" panose="02020603050405020304" pitchFamily="18" charset="0"/>
                <a:cs typeface="Times New Roman" panose="02020603050405020304" pitchFamily="18" charset="0"/>
              </a:rPr>
              <a:t>Rather than a naive transfer, the method involves freezing early layers to preserve generic features (edges, textures) while selectively unfreezing and fine-tuning later, more task-specific layers for adaptation.</a:t>
            </a: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9935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DC85F40-0E31-3975-63A8-0C2EF31B09F6}"/>
              </a:ext>
            </a:extLst>
          </p:cNvPr>
          <p:cNvSpPr>
            <a:spLocks noGrp="1"/>
          </p:cNvSpPr>
          <p:nvPr>
            <p:ph type="title"/>
          </p:nvPr>
        </p:nvSpPr>
        <p:spPr>
          <a:xfrm>
            <a:off x="972075" y="638388"/>
            <a:ext cx="6871446" cy="706964"/>
          </a:xfrm>
        </p:spPr>
        <p:txBody>
          <a:bodyPr>
            <a:scene3d>
              <a:camera prst="orthographicFront"/>
              <a:lightRig rig="threePt" dir="t"/>
            </a:scene3d>
            <a:sp3d extrusionH="57150">
              <a:bevelT w="38100" h="38100" prst="angle"/>
            </a:sp3d>
          </a:bodyPr>
          <a:lstStyle/>
          <a:p>
            <a:r>
              <a:rPr lang="en-IN" sz="4000" b="1" dirty="0">
                <a:ln>
                  <a:solidFill>
                    <a:schemeClr val="tx1"/>
                  </a:solidFill>
                </a:ln>
                <a:latin typeface="Times New Roman" panose="02020603050405020304" pitchFamily="18" charset="0"/>
                <a:cs typeface="Times New Roman" panose="02020603050405020304" pitchFamily="18" charset="0"/>
              </a:rPr>
              <a:t>System Architecture </a:t>
            </a:r>
          </a:p>
        </p:txBody>
      </p:sp>
      <p:pic>
        <p:nvPicPr>
          <p:cNvPr id="3" name="Picture 2">
            <a:extLst>
              <a:ext uri="{FF2B5EF4-FFF2-40B4-BE49-F238E27FC236}">
                <a16:creationId xmlns:a16="http://schemas.microsoft.com/office/drawing/2014/main" id="{618B3F06-E54C-7976-35C9-3A4FBBADD11F}"/>
              </a:ext>
            </a:extLst>
          </p:cNvPr>
          <p:cNvPicPr>
            <a:picLocks noChangeAspect="1"/>
          </p:cNvPicPr>
          <p:nvPr/>
        </p:nvPicPr>
        <p:blipFill>
          <a:blip r:embed="rId2"/>
          <a:stretch>
            <a:fillRect/>
          </a:stretch>
        </p:blipFill>
        <p:spPr>
          <a:xfrm>
            <a:off x="1015320" y="1645920"/>
            <a:ext cx="10262280" cy="4992658"/>
          </a:xfrm>
          <a:prstGeom prst="rect">
            <a:avLst/>
          </a:prstGeom>
        </p:spPr>
      </p:pic>
    </p:spTree>
    <p:extLst>
      <p:ext uri="{BB962C8B-B14F-4D97-AF65-F5344CB8AC3E}">
        <p14:creationId xmlns:p14="http://schemas.microsoft.com/office/powerpoint/2010/main" val="1568037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9B8E12C-C339-5980-109B-4EF209E90093}"/>
              </a:ext>
            </a:extLst>
          </p:cNvPr>
          <p:cNvSpPr>
            <a:spLocks noGrp="1"/>
          </p:cNvSpPr>
          <p:nvPr>
            <p:ph type="title"/>
          </p:nvPr>
        </p:nvSpPr>
        <p:spPr>
          <a:xfrm>
            <a:off x="972075" y="638388"/>
            <a:ext cx="6871446" cy="706964"/>
          </a:xfrm>
        </p:spPr>
        <p:txBody>
          <a:bodyPr>
            <a:scene3d>
              <a:camera prst="orthographicFront"/>
              <a:lightRig rig="threePt" dir="t"/>
            </a:scene3d>
            <a:sp3d extrusionH="57150">
              <a:bevelT w="38100" h="38100" prst="angle"/>
            </a:sp3d>
          </a:bodyPr>
          <a:lstStyle/>
          <a:p>
            <a:r>
              <a:rPr lang="en-IN" sz="4000" b="1" dirty="0">
                <a:ln>
                  <a:solidFill>
                    <a:schemeClr val="tx1"/>
                  </a:solidFill>
                </a:ln>
                <a:latin typeface="Times New Roman" panose="02020603050405020304" pitchFamily="18" charset="0"/>
                <a:cs typeface="Times New Roman" panose="02020603050405020304" pitchFamily="18" charset="0"/>
              </a:rPr>
              <a:t>System Architecture </a:t>
            </a:r>
          </a:p>
        </p:txBody>
      </p:sp>
      <p:pic>
        <p:nvPicPr>
          <p:cNvPr id="6" name="Picture 5">
            <a:extLst>
              <a:ext uri="{FF2B5EF4-FFF2-40B4-BE49-F238E27FC236}">
                <a16:creationId xmlns:a16="http://schemas.microsoft.com/office/drawing/2014/main" id="{C357966A-B4C3-DF89-C554-F9C10979A370}"/>
              </a:ext>
            </a:extLst>
          </p:cNvPr>
          <p:cNvPicPr>
            <a:picLocks noChangeAspect="1"/>
          </p:cNvPicPr>
          <p:nvPr/>
        </p:nvPicPr>
        <p:blipFill>
          <a:blip r:embed="rId2"/>
          <a:stretch>
            <a:fillRect/>
          </a:stretch>
        </p:blipFill>
        <p:spPr>
          <a:xfrm>
            <a:off x="1043230" y="1442720"/>
            <a:ext cx="9867634" cy="5222240"/>
          </a:xfrm>
          <a:prstGeom prst="rect">
            <a:avLst/>
          </a:prstGeom>
        </p:spPr>
      </p:pic>
    </p:spTree>
    <p:extLst>
      <p:ext uri="{BB962C8B-B14F-4D97-AF65-F5344CB8AC3E}">
        <p14:creationId xmlns:p14="http://schemas.microsoft.com/office/powerpoint/2010/main" val="4250640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71D4D59-933A-E62B-7C38-C024A2E4596E}"/>
                  </a:ext>
                </a:extLst>
              </p14:cNvPr>
              <p14:cNvContentPartPr/>
              <p14:nvPr/>
            </p14:nvContentPartPr>
            <p14:xfrm>
              <a:off x="6929000" y="1463000"/>
              <a:ext cx="360" cy="360"/>
            </p14:xfrm>
          </p:contentPart>
        </mc:Choice>
        <mc:Fallback xmlns="">
          <p:pic>
            <p:nvPicPr>
              <p:cNvPr id="4" name="Ink 3">
                <a:extLst>
                  <a:ext uri="{FF2B5EF4-FFF2-40B4-BE49-F238E27FC236}">
                    <a16:creationId xmlns:a16="http://schemas.microsoft.com/office/drawing/2014/main" id="{E71D4D59-933A-E62B-7C38-C024A2E4596E}"/>
                  </a:ext>
                </a:extLst>
              </p:cNvPr>
              <p:cNvPicPr/>
              <p:nvPr/>
            </p:nvPicPr>
            <p:blipFill>
              <a:blip r:embed="rId3"/>
              <a:stretch>
                <a:fillRect/>
              </a:stretch>
            </p:blipFill>
            <p:spPr>
              <a:xfrm>
                <a:off x="6922880" y="1456880"/>
                <a:ext cx="12600" cy="12600"/>
              </a:xfrm>
              <a:prstGeom prst="rect">
                <a:avLst/>
              </a:prstGeom>
            </p:spPr>
          </p:pic>
        </mc:Fallback>
      </mc:AlternateContent>
      <p:sp>
        <p:nvSpPr>
          <p:cNvPr id="5" name="Content Placeholder 2">
            <a:extLst>
              <a:ext uri="{FF2B5EF4-FFF2-40B4-BE49-F238E27FC236}">
                <a16:creationId xmlns:a16="http://schemas.microsoft.com/office/drawing/2014/main" id="{BBE6ACBE-72E1-267F-0B07-996F89B4CBB1}"/>
              </a:ext>
            </a:extLst>
          </p:cNvPr>
          <p:cNvSpPr txBox="1">
            <a:spLocks noChangeArrowheads="1"/>
          </p:cNvSpPr>
          <p:nvPr/>
        </p:nvSpPr>
        <p:spPr bwMode="auto">
          <a:xfrm>
            <a:off x="782320" y="1075907"/>
            <a:ext cx="10038080"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gn="just" defTabSz="914400" eaLnBrk="0" fontAlgn="base" hangingPunct="0">
              <a:spcBef>
                <a:spcPts val="0"/>
              </a:spcBef>
              <a:spcAft>
                <a:spcPts val="1200"/>
              </a:spcAft>
              <a:buClrTx/>
              <a:buSzTx/>
              <a:buFont typeface="Wingdings" panose="05000000000000000000" pitchFamily="2" charset="2"/>
              <a:buChar char="Ø"/>
            </a:pPr>
            <a:r>
              <a:rPr lang="en-US" altLang="en-US" sz="2200" b="1" dirty="0">
                <a:solidFill>
                  <a:schemeClr val="tx1"/>
                </a:solidFill>
                <a:latin typeface="Times New Roman" panose="02020603050405020304" pitchFamily="18" charset="0"/>
                <a:cs typeface="Times New Roman" panose="02020603050405020304" pitchFamily="18" charset="0"/>
              </a:rPr>
              <a:t>Source Domain Data: </a:t>
            </a:r>
            <a:r>
              <a:rPr lang="en-US" altLang="en-US" sz="2200" dirty="0">
                <a:solidFill>
                  <a:schemeClr val="tx1"/>
                </a:solidFill>
                <a:latin typeface="Times New Roman" panose="02020603050405020304" pitchFamily="18" charset="0"/>
                <a:cs typeface="Times New Roman" panose="02020603050405020304" pitchFamily="18" charset="0"/>
              </a:rPr>
              <a:t>Provides labeled data used to </a:t>
            </a:r>
            <a:r>
              <a:rPr lang="en-IN" altLang="en-US" sz="2200" dirty="0">
                <a:solidFill>
                  <a:schemeClr val="tx1"/>
                </a:solidFill>
                <a:latin typeface="Times New Roman" panose="02020603050405020304" pitchFamily="18" charset="0"/>
                <a:cs typeface="Times New Roman" panose="02020603050405020304" pitchFamily="18" charset="0"/>
              </a:rPr>
              <a:t>train the classification model.</a:t>
            </a:r>
            <a:endParaRPr lang="en-US" altLang="en-US" sz="2200" dirty="0">
              <a:solidFill>
                <a:schemeClr val="tx1"/>
              </a:solidFill>
              <a:latin typeface="Times New Roman" panose="02020603050405020304" pitchFamily="18" charset="0"/>
              <a:cs typeface="Times New Roman" panose="02020603050405020304" pitchFamily="18" charset="0"/>
            </a:endParaRPr>
          </a:p>
          <a:p>
            <a:pPr algn="just" defTabSz="914400" eaLnBrk="0" fontAlgn="base" hangingPunct="0">
              <a:spcBef>
                <a:spcPts val="0"/>
              </a:spcBef>
              <a:spcAft>
                <a:spcPts val="1200"/>
              </a:spcAft>
              <a:buClrTx/>
              <a:buSzTx/>
              <a:buFont typeface="Wingdings" panose="05000000000000000000" pitchFamily="2" charset="2"/>
              <a:buChar char="Ø"/>
            </a:pPr>
            <a:r>
              <a:rPr lang="en-US" altLang="en-US" sz="2200" b="1" dirty="0">
                <a:solidFill>
                  <a:schemeClr val="tx1"/>
                </a:solidFill>
                <a:latin typeface="Times New Roman" panose="02020603050405020304" pitchFamily="18" charset="0"/>
                <a:cs typeface="Times New Roman" panose="02020603050405020304" pitchFamily="18" charset="0"/>
              </a:rPr>
              <a:t>Target Domain Data: </a:t>
            </a:r>
            <a:r>
              <a:rPr lang="en-US" altLang="en-US" sz="2200" dirty="0">
                <a:solidFill>
                  <a:schemeClr val="tx1"/>
                </a:solidFill>
                <a:latin typeface="Times New Roman" panose="02020603050405020304" pitchFamily="18" charset="0"/>
                <a:cs typeface="Times New Roman" panose="02020603050405020304" pitchFamily="18" charset="0"/>
              </a:rPr>
              <a:t>Provides unlabeled data or limited labeled data for domain </a:t>
            </a:r>
            <a:r>
              <a:rPr lang="en-IN" altLang="en-US" sz="2200" dirty="0">
                <a:solidFill>
                  <a:schemeClr val="tx1"/>
                </a:solidFill>
                <a:latin typeface="Times New Roman" panose="02020603050405020304" pitchFamily="18" charset="0"/>
                <a:cs typeface="Times New Roman" panose="02020603050405020304" pitchFamily="18" charset="0"/>
              </a:rPr>
              <a:t>adaptation.</a:t>
            </a:r>
          </a:p>
          <a:p>
            <a:pPr algn="just" defTabSz="914400" eaLnBrk="0" fontAlgn="base" hangingPunct="0">
              <a:spcBef>
                <a:spcPts val="0"/>
              </a:spcBef>
              <a:spcAft>
                <a:spcPts val="1200"/>
              </a:spcAft>
              <a:buClrTx/>
              <a:buSzTx/>
              <a:buFont typeface="Wingdings" panose="05000000000000000000" pitchFamily="2" charset="2"/>
              <a:buChar char="Ø"/>
            </a:pPr>
            <a:r>
              <a:rPr lang="en-IN" altLang="en-US" sz="2200" b="1" dirty="0">
                <a:solidFill>
                  <a:schemeClr val="tx1"/>
                </a:solidFill>
                <a:latin typeface="Times New Roman" panose="02020603050405020304" pitchFamily="18" charset="0"/>
                <a:cs typeface="Times New Roman" panose="02020603050405020304" pitchFamily="18" charset="0"/>
              </a:rPr>
              <a:t>Preprocessing Module : </a:t>
            </a:r>
            <a:r>
              <a:rPr lang="en-IN" altLang="en-US" sz="2200" dirty="0">
                <a:solidFill>
                  <a:schemeClr val="tx1"/>
                </a:solidFill>
                <a:latin typeface="Times New Roman" panose="02020603050405020304" pitchFamily="18" charset="0"/>
                <a:cs typeface="Times New Roman" panose="02020603050405020304" pitchFamily="18" charset="0"/>
              </a:rPr>
              <a:t>Prepare input data in a format suitable for deep learning model.</a:t>
            </a:r>
          </a:p>
          <a:p>
            <a:pPr algn="just" defTabSz="914400" eaLnBrk="0" fontAlgn="base" hangingPunct="0">
              <a:spcBef>
                <a:spcPts val="0"/>
              </a:spcBef>
              <a:spcAft>
                <a:spcPts val="1200"/>
              </a:spcAft>
              <a:buClrTx/>
              <a:buSzTx/>
              <a:buFont typeface="Wingdings" panose="05000000000000000000" pitchFamily="2" charset="2"/>
              <a:buChar char="Ø"/>
            </a:pPr>
            <a:r>
              <a:rPr lang="en-IN" altLang="en-US" sz="2200" b="1" dirty="0">
                <a:solidFill>
                  <a:schemeClr val="tx1"/>
                </a:solidFill>
                <a:latin typeface="Times New Roman" panose="02020603050405020304" pitchFamily="18" charset="0"/>
                <a:cs typeface="Times New Roman" panose="02020603050405020304" pitchFamily="18" charset="0"/>
              </a:rPr>
              <a:t>CNN Feature Extractor: </a:t>
            </a:r>
            <a:r>
              <a:rPr lang="en-IN" altLang="en-US" sz="2200" dirty="0">
                <a:solidFill>
                  <a:schemeClr val="tx1"/>
                </a:solidFill>
                <a:latin typeface="Times New Roman" panose="02020603050405020304" pitchFamily="18" charset="0"/>
                <a:cs typeface="Times New Roman" panose="02020603050405020304" pitchFamily="18" charset="0"/>
              </a:rPr>
              <a:t>Extracts high-level features using a pre-trained deep learning Network.</a:t>
            </a:r>
          </a:p>
          <a:p>
            <a:pPr algn="just" defTabSz="914400" eaLnBrk="0" fontAlgn="base" hangingPunct="0">
              <a:spcBef>
                <a:spcPts val="0"/>
              </a:spcBef>
              <a:spcAft>
                <a:spcPts val="1200"/>
              </a:spcAft>
              <a:buClrTx/>
              <a:buSzTx/>
              <a:buFont typeface="Wingdings" panose="05000000000000000000" pitchFamily="2" charset="2"/>
              <a:buChar char="Ø"/>
            </a:pPr>
            <a:r>
              <a:rPr lang="en-IN" altLang="en-US" sz="2200" b="1" dirty="0">
                <a:solidFill>
                  <a:schemeClr val="tx1"/>
                </a:solidFill>
                <a:latin typeface="Times New Roman" panose="02020603050405020304" pitchFamily="18" charset="0"/>
                <a:cs typeface="Times New Roman" panose="02020603050405020304" pitchFamily="18" charset="0"/>
              </a:rPr>
              <a:t>Domain Adaptation Module: </a:t>
            </a:r>
            <a:r>
              <a:rPr lang="en-IN" altLang="en-US" sz="2200" dirty="0">
                <a:solidFill>
                  <a:schemeClr val="tx1"/>
                </a:solidFill>
                <a:latin typeface="Times New Roman" panose="02020603050405020304" pitchFamily="18" charset="0"/>
                <a:cs typeface="Times New Roman" panose="02020603050405020304" pitchFamily="18" charset="0"/>
              </a:rPr>
              <a:t>Minimizes the difference between source and target domain features.</a:t>
            </a:r>
          </a:p>
          <a:p>
            <a:pPr algn="just" defTabSz="914400" eaLnBrk="0" fontAlgn="base" hangingPunct="0">
              <a:spcBef>
                <a:spcPts val="0"/>
              </a:spcBef>
              <a:spcAft>
                <a:spcPts val="1200"/>
              </a:spcAft>
              <a:buClrTx/>
              <a:buSzTx/>
              <a:buFont typeface="Wingdings" panose="05000000000000000000" pitchFamily="2" charset="2"/>
              <a:buChar char="Ø"/>
            </a:pPr>
            <a:r>
              <a:rPr lang="en-IN" altLang="en-US" sz="2200" b="1" dirty="0">
                <a:solidFill>
                  <a:schemeClr val="tx1"/>
                </a:solidFill>
                <a:latin typeface="Times New Roman" panose="02020603050405020304" pitchFamily="18" charset="0"/>
                <a:cs typeface="Times New Roman" panose="02020603050405020304" pitchFamily="18" charset="0"/>
              </a:rPr>
              <a:t>Classifier Module: </a:t>
            </a:r>
            <a:r>
              <a:rPr lang="en-IN" altLang="en-US" sz="2200" dirty="0">
                <a:solidFill>
                  <a:schemeClr val="tx1"/>
                </a:solidFill>
                <a:latin typeface="Times New Roman" panose="02020603050405020304" pitchFamily="18" charset="0"/>
                <a:cs typeface="Times New Roman" panose="02020603050405020304" pitchFamily="18" charset="0"/>
              </a:rPr>
              <a:t>Predicts the class labels based on learned features.</a:t>
            </a:r>
          </a:p>
          <a:p>
            <a:pPr algn="just" defTabSz="914400" eaLnBrk="0" fontAlgn="base" hangingPunct="0">
              <a:spcBef>
                <a:spcPts val="0"/>
              </a:spcBef>
              <a:spcAft>
                <a:spcPts val="1200"/>
              </a:spcAft>
              <a:buClrTx/>
              <a:buSzTx/>
              <a:buFont typeface="Wingdings" panose="05000000000000000000" pitchFamily="2" charset="2"/>
              <a:buChar char="Ø"/>
            </a:pPr>
            <a:r>
              <a:rPr lang="en-IN" altLang="en-US" sz="2200" b="1" dirty="0">
                <a:solidFill>
                  <a:schemeClr val="tx1"/>
                </a:solidFill>
                <a:latin typeface="Times New Roman" panose="02020603050405020304" pitchFamily="18" charset="0"/>
                <a:cs typeface="Times New Roman" panose="02020603050405020304" pitchFamily="18" charset="0"/>
              </a:rPr>
              <a:t>Output Layer: </a:t>
            </a:r>
            <a:r>
              <a:rPr lang="en-IN" altLang="en-US" sz="2200" dirty="0">
                <a:solidFill>
                  <a:schemeClr val="tx1"/>
                </a:solidFill>
                <a:latin typeface="Times New Roman" panose="02020603050405020304" pitchFamily="18" charset="0"/>
                <a:cs typeface="Times New Roman" panose="02020603050405020304" pitchFamily="18" charset="0"/>
              </a:rPr>
              <a:t>Displays the final classification result.</a:t>
            </a:r>
            <a:endParaRPr lang="en-IN" altLang="en-US" sz="2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893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899338-AFE9-DC38-B62F-3834A5CD68AD}"/>
              </a:ext>
            </a:extLst>
          </p:cNvPr>
          <p:cNvSpPr txBox="1"/>
          <p:nvPr/>
        </p:nvSpPr>
        <p:spPr>
          <a:xfrm>
            <a:off x="1175988" y="1583491"/>
            <a:ext cx="10050965" cy="1200329"/>
          </a:xfrm>
          <a:prstGeom prst="rect">
            <a:avLst/>
          </a:prstGeom>
          <a:noFill/>
        </p:spPr>
        <p:txBody>
          <a:bodyPr wrap="square">
            <a:spAutoFit/>
          </a:bodyPr>
          <a:lstStyle/>
          <a:p>
            <a:pPr lvl="1" indent="-4572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Cost Effective</a:t>
            </a:r>
          </a:p>
          <a:p>
            <a:pPr marL="0" lvl="1" algn="just"/>
            <a:r>
              <a:rPr lang="en-IN" sz="2400" b="1" dirty="0">
                <a:latin typeface="Times New Roman" panose="02020603050405020304" pitchFamily="18" charset="0"/>
                <a:cs typeface="Times New Roman" panose="02020603050405020304" pitchFamily="18" charset="0"/>
              </a:rPr>
              <a:t>	• </a:t>
            </a:r>
            <a:r>
              <a:rPr lang="en-IN" sz="2400" dirty="0">
                <a:latin typeface="Times New Roman" panose="02020603050405020304" pitchFamily="18" charset="0"/>
                <a:cs typeface="Times New Roman" panose="02020603050405020304" pitchFamily="18" charset="0"/>
              </a:rPr>
              <a:t>This project makes the Deep Learning Model Cost effective as we would be working on fine-tuning the existing Deep learning model.</a:t>
            </a:r>
            <a:endParaRPr lang="en-IN" sz="2400" b="1"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72249B3A-8C73-7D26-AFC0-9A79F31AE005}"/>
              </a:ext>
            </a:extLst>
          </p:cNvPr>
          <p:cNvSpPr>
            <a:spLocks noGrp="1"/>
          </p:cNvSpPr>
          <p:nvPr>
            <p:ph type="title"/>
          </p:nvPr>
        </p:nvSpPr>
        <p:spPr>
          <a:xfrm>
            <a:off x="779035" y="536788"/>
            <a:ext cx="10203926" cy="706964"/>
          </a:xfrm>
        </p:spPr>
        <p:txBody>
          <a:bodyPr>
            <a:scene3d>
              <a:camera prst="orthographicFront"/>
              <a:lightRig rig="threePt" dir="t"/>
            </a:scene3d>
            <a:sp3d extrusionH="57150">
              <a:bevelT w="38100" h="38100" prst="angle"/>
            </a:sp3d>
          </a:bodyPr>
          <a:lstStyle/>
          <a:p>
            <a:r>
              <a:rPr lang="en-IN" sz="4000" b="1" dirty="0">
                <a:ln>
                  <a:solidFill>
                    <a:schemeClr val="tx1"/>
                  </a:solidFill>
                </a:ln>
                <a:latin typeface="Times New Roman" panose="02020603050405020304" pitchFamily="18" charset="0"/>
                <a:cs typeface="Times New Roman" panose="02020603050405020304" pitchFamily="18" charset="0"/>
              </a:rPr>
              <a:t>Advantages</a:t>
            </a:r>
          </a:p>
        </p:txBody>
      </p:sp>
      <p:sp>
        <p:nvSpPr>
          <p:cNvPr id="6" name="TextBox 5">
            <a:extLst>
              <a:ext uri="{FF2B5EF4-FFF2-40B4-BE49-F238E27FC236}">
                <a16:creationId xmlns:a16="http://schemas.microsoft.com/office/drawing/2014/main" id="{28A26342-9928-CFB0-D225-EF7CE6C73DBF}"/>
              </a:ext>
            </a:extLst>
          </p:cNvPr>
          <p:cNvSpPr txBox="1"/>
          <p:nvPr/>
        </p:nvSpPr>
        <p:spPr>
          <a:xfrm>
            <a:off x="1084549" y="3026211"/>
            <a:ext cx="10117776" cy="1200329"/>
          </a:xfrm>
          <a:prstGeom prst="rect">
            <a:avLst/>
          </a:prstGeom>
          <a:noFill/>
        </p:spPr>
        <p:txBody>
          <a:bodyPr wrap="square">
            <a:spAutoFit/>
          </a:bodyPr>
          <a:lstStyle/>
          <a:p>
            <a:pPr lvl="1" indent="-4572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Effective Resource Management</a:t>
            </a:r>
          </a:p>
          <a:p>
            <a:pPr marL="0" lvl="1" algn="just"/>
            <a:r>
              <a:rPr lang="en-IN" sz="2400" b="1" dirty="0">
                <a:latin typeface="Times New Roman" panose="02020603050405020304" pitchFamily="18" charset="0"/>
                <a:cs typeface="Times New Roman" panose="02020603050405020304" pitchFamily="18" charset="0"/>
              </a:rPr>
              <a:t>	• </a:t>
            </a:r>
            <a:r>
              <a:rPr lang="en-IN" sz="2400" dirty="0">
                <a:latin typeface="Times New Roman" panose="02020603050405020304" pitchFamily="18" charset="0"/>
                <a:cs typeface="Times New Roman" panose="02020603050405020304" pitchFamily="18" charset="0"/>
              </a:rPr>
              <a:t>This project makes the Deep Learning Model use the existing model by fine-tuning it as we not be need to make a model from scratch.</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846753F-5B17-5B9B-E114-9CB33B0A1DA7}"/>
              </a:ext>
            </a:extLst>
          </p:cNvPr>
          <p:cNvSpPr txBox="1"/>
          <p:nvPr/>
        </p:nvSpPr>
        <p:spPr>
          <a:xfrm>
            <a:off x="1054069" y="4651811"/>
            <a:ext cx="10117776" cy="830997"/>
          </a:xfrm>
          <a:prstGeom prst="rect">
            <a:avLst/>
          </a:prstGeom>
          <a:noFill/>
        </p:spPr>
        <p:txBody>
          <a:bodyPr wrap="square">
            <a:spAutoFit/>
          </a:bodyPr>
          <a:lstStyle/>
          <a:p>
            <a:pPr lvl="1" indent="-4572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Reduces Overall Manpower</a:t>
            </a:r>
          </a:p>
          <a:p>
            <a:pPr marL="0" lvl="1" algn="just"/>
            <a:r>
              <a:rPr lang="en-IN" sz="2400" b="1" dirty="0">
                <a:latin typeface="Times New Roman" panose="02020603050405020304" pitchFamily="18" charset="0"/>
                <a:cs typeface="Times New Roman" panose="02020603050405020304" pitchFamily="18" charset="0"/>
              </a:rPr>
              <a:t>	• </a:t>
            </a:r>
            <a:r>
              <a:rPr lang="en-IN" sz="2400" dirty="0">
                <a:latin typeface="Times New Roman" panose="02020603050405020304" pitchFamily="18" charset="0"/>
                <a:cs typeface="Times New Roman" panose="02020603050405020304" pitchFamily="18" charset="0"/>
              </a:rPr>
              <a:t>It would be working on fine-tuning the existing Deep learning model.</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9965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F93F3E-876E-C6DC-CB61-598755E1E4DB}"/>
              </a:ext>
            </a:extLst>
          </p:cNvPr>
          <p:cNvSpPr>
            <a:spLocks noGrp="1"/>
          </p:cNvSpPr>
          <p:nvPr>
            <p:ph type="title"/>
          </p:nvPr>
        </p:nvSpPr>
        <p:spPr>
          <a:xfrm>
            <a:off x="992394" y="922868"/>
            <a:ext cx="8761413" cy="706964"/>
          </a:xfrm>
        </p:spPr>
        <p:txBody>
          <a:bodyPr>
            <a:scene3d>
              <a:camera prst="orthographicFront"/>
              <a:lightRig rig="threePt" dir="t"/>
            </a:scene3d>
            <a:sp3d extrusionH="57150">
              <a:bevelT w="38100" h="38100" prst="angle"/>
            </a:sp3d>
          </a:bodyPr>
          <a:lstStyle/>
          <a:p>
            <a:r>
              <a:rPr lang="en-IN" b="1" dirty="0">
                <a:ln>
                  <a:solidFill>
                    <a:schemeClr val="tx1"/>
                  </a:solidFill>
                </a:ln>
                <a:latin typeface="Times New Roman" panose="02020603050405020304" pitchFamily="18" charset="0"/>
                <a:cs typeface="Times New Roman" panose="02020603050405020304" pitchFamily="18" charset="0"/>
              </a:rPr>
              <a:t>Conclusion</a:t>
            </a:r>
            <a:endParaRPr lang="en-IN" dirty="0">
              <a:ln>
                <a:solidFill>
                  <a:schemeClr val="tx1"/>
                </a:solidFill>
              </a:ln>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74AA47C3-FD18-0987-C746-559BAFEF30FC}"/>
              </a:ext>
            </a:extLst>
          </p:cNvPr>
          <p:cNvSpPr>
            <a:spLocks noGrp="1"/>
          </p:cNvSpPr>
          <p:nvPr>
            <p:ph idx="1"/>
          </p:nvPr>
        </p:nvSpPr>
        <p:spPr>
          <a:xfrm>
            <a:off x="950339" y="2347699"/>
            <a:ext cx="5806062" cy="2518941"/>
          </a:xfrm>
        </p:spPr>
        <p:txBody>
          <a:bodyPr>
            <a:noAutofit/>
          </a:bodyPr>
          <a:lstStyle/>
          <a:p>
            <a:pPr marL="0" marR="0" lvl="0" indent="0" algn="just" defTabSz="914400" rtl="0" eaLnBrk="1" fontAlgn="auto" latinLnBrk="0" hangingPunct="1">
              <a:spcBef>
                <a:spcPts val="0"/>
              </a:spcBef>
              <a:spcAft>
                <a:spcPts val="0"/>
              </a:spcAft>
              <a:buClrTx/>
              <a:buSzTx/>
              <a:buFontTx/>
              <a:buNone/>
              <a:tabLst/>
              <a:defRPr/>
            </a:pPr>
            <a:r>
              <a:rPr lang="en-US" sz="2400" dirty="0">
                <a:solidFill>
                  <a:srgbClr val="000000"/>
                </a:solidFill>
                <a:latin typeface="Times New Roman" panose="02020603050405020304" pitchFamily="18" charset="0"/>
                <a:ea typeface="Times New Roman MT"/>
                <a:cs typeface="Times New Roman" panose="02020603050405020304" pitchFamily="18" charset="0"/>
                <a:sym typeface="Times New Roman MT"/>
              </a:rPr>
              <a:t>This project focuses on domain-adaptive classification by means of Transfer learning using a pre-trained Deep Learning model to improve classification accuracy with reduced training effort for real-world applications and data distribution changes.</a:t>
            </a:r>
            <a:endParaRPr kumimoji="0" lang="en-US" sz="2400" b="0" i="0" u="none" strike="noStrike" kern="1200" cap="none" spc="0" normalizeH="0" noProof="0" dirty="0">
              <a:ln>
                <a:noFill/>
              </a:ln>
              <a:solidFill>
                <a:srgbClr val="000000"/>
              </a:solidFill>
              <a:effectLst/>
              <a:uLnTx/>
              <a:uFillTx/>
              <a:latin typeface="Times New Roman" panose="02020603050405020304" pitchFamily="18" charset="0"/>
              <a:ea typeface="Times New Roman MT"/>
              <a:cs typeface="Times New Roman" panose="02020603050405020304" pitchFamily="18" charset="0"/>
              <a:sym typeface="Times New Roman MT"/>
            </a:endParaRPr>
          </a:p>
        </p:txBody>
      </p:sp>
      <p:sp>
        <p:nvSpPr>
          <p:cNvPr id="6" name="Rectangle: Rounded Corners 5">
            <a:extLst>
              <a:ext uri="{FF2B5EF4-FFF2-40B4-BE49-F238E27FC236}">
                <a16:creationId xmlns:a16="http://schemas.microsoft.com/office/drawing/2014/main" id="{EDDCE45B-BA3E-F8ED-BAA8-7F5159A7D53C}"/>
              </a:ext>
            </a:extLst>
          </p:cNvPr>
          <p:cNvSpPr/>
          <p:nvPr/>
        </p:nvSpPr>
        <p:spPr>
          <a:xfrm>
            <a:off x="7235334" y="2036757"/>
            <a:ext cx="4033520" cy="2408177"/>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effectLst>
            <a:reflection stA="50000" endPos="44000" dist="127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91287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8AABA662-15FB-10EE-F410-C41DF7125F67}"/>
              </a:ext>
            </a:extLst>
          </p:cNvPr>
          <p:cNvSpPr>
            <a:spLocks noGrp="1"/>
          </p:cNvSpPr>
          <p:nvPr/>
        </p:nvSpPr>
        <p:spPr>
          <a:xfrm>
            <a:off x="794004" y="751840"/>
            <a:ext cx="10360152" cy="688636"/>
          </a:xfrm>
          <a:prstGeom prst="rect">
            <a:avLst/>
          </a:prstGeom>
        </p:spPr>
        <p:txBody>
          <a:bodyPr vert="horz" lIns="91440" tIns="45720" rIns="91440" bIns="45720" rtlCol="0" anchor="b">
            <a:noAutofit/>
            <a:scene3d>
              <a:camera prst="orthographicFront"/>
              <a:lightRig rig="threePt" dir="t"/>
            </a:scene3d>
            <a:sp3d extrusionH="57150">
              <a:bevelT w="38100" h="38100" prst="angle"/>
            </a:sp3d>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IN" sz="3600" b="1" dirty="0">
                <a:ln>
                  <a:solidFill>
                    <a:schemeClr val="tx1"/>
                  </a:solidFill>
                </a:ln>
                <a:latin typeface="Times New Roman" panose="02020603050405020304" pitchFamily="18" charset="0"/>
                <a:cs typeface="Times New Roman" panose="02020603050405020304" pitchFamily="18" charset="0"/>
              </a:rPr>
              <a:t>THANK YOU</a:t>
            </a:r>
            <a:endParaRPr lang="en-US" sz="3600" b="1" dirty="0">
              <a:ln>
                <a:solidFill>
                  <a:schemeClr val="tx1"/>
                </a:solidFill>
              </a:ln>
            </a:endParaRPr>
          </a:p>
        </p:txBody>
      </p:sp>
      <p:pic>
        <p:nvPicPr>
          <p:cNvPr id="5" name="Picture 6" descr="Free Photos | Human and robot shaking hands in the office 1">
            <a:extLst>
              <a:ext uri="{FF2B5EF4-FFF2-40B4-BE49-F238E27FC236}">
                <a16:creationId xmlns:a16="http://schemas.microsoft.com/office/drawing/2014/main" id="{F58D70C6-80F7-7BAA-BC25-1063D97591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0754" y="1809750"/>
            <a:ext cx="7522845" cy="4306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269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TotalTime>
  <Words>753</Words>
  <Application>Microsoft Office PowerPoint</Application>
  <PresentationFormat>Widescreen</PresentationFormat>
  <Paragraphs>94</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PowerPoint Presentation</vt:lpstr>
      <vt:lpstr>Table of Contents</vt:lpstr>
      <vt:lpstr>Abstract</vt:lpstr>
      <vt:lpstr>Literature Review</vt:lpstr>
      <vt:lpstr>Problem Statement</vt:lpstr>
      <vt:lpstr>Proposed Methodology</vt:lpstr>
      <vt:lpstr>PowerPoint Presentation</vt:lpstr>
      <vt:lpstr>System Architecture </vt:lpstr>
      <vt:lpstr>System Architecture </vt:lpstr>
      <vt:lpstr>PowerPoint Presentation</vt:lpstr>
      <vt:lpstr>Advantages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MUPPANA SAI KARTHIK</dc:creator>
  <cp:lastModifiedBy>MUPPANA SAI KARTHIK</cp:lastModifiedBy>
  <cp:revision>7</cp:revision>
  <dcterms:created xsi:type="dcterms:W3CDTF">2026-01-29T15:43:28Z</dcterms:created>
  <dcterms:modified xsi:type="dcterms:W3CDTF">2026-02-04T04:00:48Z</dcterms:modified>
</cp:coreProperties>
</file>